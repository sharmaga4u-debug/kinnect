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Kinnect is a family app built around one idea: keeping grandparents and grandchildren close when the family is spread across countries. Everything shown in this deck is running in the current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we heard from families: time zones make calling awkward, children need something to do on a call, and elderly parents find apps hard and are targets for scams.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positioning in one line. The four pillars are what the rest of the deck shows, feature by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Kinnect. During a video call either person taps Play. Whatever they open appears on the other phone too, and every page turn, stroke or move is synced and encrypted. The grandparent stays on screen in a small video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for children comes from play and small rewards: stickers, streaks, and hearing a grandparent read a story in their own voice even when they are asleep in another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I'm OK check-in: one tap, and the chosen family members see it. If there is no check-in, caregivers are nudged. Medicine reminders run on the phone and the taken log is shared. SOS sends the location to chosen family and automatically calls the first contact; the alert steps aside while they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mode replaces the whole app with big photos and one-tap calls. Text size is chosen at sign-up with a live preview. Messages can be read aloud, voice messages replace typing, and translation runs on the phone so chats stay encrypted. Messages from strangers mentioning OTPs, banks or money show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Kinnect knows each person’s time zone. It shows their local time in the chat header and list, warns before calling someone at night, and schedules recurring family calls so each person is reminded in their own time. When scheduling, it suggests the hours when everyone is awake.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Grandparents record stories and family memories with ready-made questions. The family tree labels each relative with Hindi and Telugu relation names, so children learn Dadi, Nani, Mama and Bua. Photos from all chats are gathered with On this day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will only move if everyday messaging is covered. Kinnect has the full set of chat basics, including group video calls, polls, shared lists, live location and encrypted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phone creates its own key. Chats are encrypted with ECDH and AES-GCM before leaving the phone; tests confirmed no readable message text on the relay. Phone contacts are hashed on the device. Honest caveat for the beta: phone numbers are not yet verified by SMS, so security codes are the safeguard.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conservative comparison: typical chat apps already do the basics well, and many are encrypted. What Kinnect adds is the family layer — playing together on calls, care, time zones and features for elders.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cost is effectively zero: encryption, translation, reminders and backup all run on the phone; calls are peer to peer; the relay is a free public service. The numbers: group calls up to four people, and over 110 automated checks run across two to four simulated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in order. Feedback first; then push notifications when the app is closed (needs a small free sender); a kids profile; and live translated subtitles if it can be done on the phone for free. Play Store and iPhone releases are on hold because they cost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invitation: install the beta, use it with family for a week, and send feedback from the Feedback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30"/>
        </a:solidFill>
      </p:bgPr>
    </p:bg>
    <p:spTree>
      <p:nvGrpSpPr>
        <p:cNvPr id="1" name=""/>
        <p:cNvGrpSpPr/>
        <p:nvPr/>
      </p:nvGrpSpPr>
      <p:grpSpPr>
        <a:xfrm>
          <a:off x="0" y="0"/>
          <a:ext cx="0" cy="0"/>
          <a:chOff x="0" y="0"/>
          <a:chExt cx="0" cy="0"/>
        </a:xfrm>
      </p:grpSpPr>
      <p:sp>
        <p:nvSpPr>
          <p:cNvPr id="2" name="Text 0"/>
          <p:cNvSpPr txBox="1"/>
          <p:nvPr/>
        </p:nvSpPr>
        <p:spPr>
          <a:xfrm>
            <a:off x="640080" y="1371600"/>
            <a:ext cx="59436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Kinnect</a:t>
            </a:r>
            <a:endParaRPr lang="en-US" sz="6000" dirty="0"/>
          </a:p>
        </p:txBody>
      </p:sp>
      <p:sp>
        <p:nvSpPr>
          <p:cNvPr id="3" name="Text 1"/>
          <p:cNvSpPr txBox="1"/>
          <p:nvPr/>
        </p:nvSpPr>
        <p:spPr>
          <a:xfrm>
            <a:off x="640080" y="2331720"/>
            <a:ext cx="5760720" cy="914400"/>
          </a:xfrm>
          <a:prstGeom prst="rect">
            <a:avLst/>
          </a:prstGeom>
          <a:noFill/>
          <a:ln/>
        </p:spPr>
        <p:txBody>
          <a:bodyPr wrap="square" lIns="0" tIns="0" rIns="0" bIns="0" rtlCol="0" anchor="t"/>
          <a:lstStyle/>
          <a:p>
            <a:pPr indent="0" marL="0">
              <a:buNone/>
            </a:pPr>
            <a:r>
              <a:rPr lang="en-US" sz="2600" dirty="0">
                <a:solidFill>
                  <a:srgbClr val="FCD34D"/>
                </a:solidFill>
                <a:latin typeface="Cambria" pitchFamily="34" charset="0"/>
                <a:ea typeface="Cambria" pitchFamily="34" charset="-122"/>
                <a:cs typeface="Cambria" pitchFamily="34" charset="-120"/>
              </a:rPr>
              <a:t>Bringing generations closer, across countries</a:t>
            </a:r>
            <a:endParaRPr lang="en-US" sz="2600" dirty="0"/>
          </a:p>
        </p:txBody>
      </p:sp>
      <p:sp>
        <p:nvSpPr>
          <p:cNvPr id="4" name="Text 2"/>
          <p:cNvSpPr txBox="1"/>
          <p:nvPr/>
        </p:nvSpPr>
        <p:spPr>
          <a:xfrm>
            <a:off x="640080" y="3429000"/>
            <a:ext cx="5394960" cy="1097280"/>
          </a:xfrm>
          <a:prstGeom prst="rect">
            <a:avLst/>
          </a:prstGeom>
          <a:noFill/>
          <a:ln/>
        </p:spPr>
        <p:txBody>
          <a:bodyPr wrap="square" lIns="0" tIns="0" rIns="0" bIns="0" rtlCol="0" anchor="t"/>
          <a:lstStyle/>
          <a:p>
            <a:pPr indent="0" marL="0">
              <a:buNone/>
            </a:pPr>
            <a:r>
              <a:rPr lang="en-US" sz="1700" dirty="0">
                <a:solidFill>
                  <a:srgbClr val="C9E4E9"/>
                </a:solidFill>
                <a:latin typeface="Calibri" pitchFamily="34" charset="0"/>
                <a:ea typeface="Calibri" pitchFamily="34" charset="-122"/>
                <a:cs typeface="Calibri" pitchFamily="34" charset="-120"/>
              </a:rPr>
              <a:t>A private family app where grandparents and grandchildren play, care and stay in touch — in their own language and their own time zone.</a:t>
            </a:r>
            <a:endParaRPr lang="en-US" sz="1700" dirty="0"/>
          </a:p>
        </p:txBody>
      </p:sp>
      <p:sp>
        <p:nvSpPr>
          <p:cNvPr id="5" name="Text 3"/>
          <p:cNvSpPr txBox="1"/>
          <p:nvPr/>
        </p:nvSpPr>
        <p:spPr>
          <a:xfrm>
            <a:off x="640080" y="5989320"/>
            <a:ext cx="5486400" cy="365760"/>
          </a:xfrm>
          <a:prstGeom prst="rect">
            <a:avLst/>
          </a:prstGeom>
          <a:noFill/>
          <a:ln/>
        </p:spPr>
        <p:txBody>
          <a:bodyPr wrap="square" lIns="0" tIns="0" rIns="0" bIns="0" rtlCol="0" anchor="ctr"/>
          <a:lstStyle/>
          <a:p>
            <a:pPr indent="0" marL="0">
              <a:buNone/>
            </a:pPr>
            <a:r>
              <a:rPr lang="en-US" sz="1300" dirty="0">
                <a:solidFill>
                  <a:srgbClr val="7FA9B3"/>
                </a:solidFill>
                <a:latin typeface="Calibri" pitchFamily="34" charset="0"/>
                <a:ea typeface="Calibri" pitchFamily="34" charset="-122"/>
                <a:cs typeface="Calibri" pitchFamily="34" charset="-120"/>
              </a:rPr>
              <a:t>What makes us different · Beta 1.3</a:t>
            </a:r>
            <a:endParaRPr lang="en-US" sz="1300" dirty="0"/>
          </a:p>
        </p:txBody>
      </p:sp>
      <p:sp>
        <p:nvSpPr>
          <p:cNvPr id="6" name="Shape 4"/>
          <p:cNvSpPr/>
          <p:nvPr/>
        </p:nvSpPr>
        <p:spPr>
          <a:xfrm>
            <a:off x="6839712" y="621792"/>
            <a:ext cx="2663201" cy="5614416"/>
          </a:xfrm>
          <a:prstGeom prst="roundRect">
            <a:avLst>
              <a:gd name="adj" fmla="val 7554"/>
            </a:avLst>
          </a:prstGeom>
          <a:solidFill>
            <a:srgbClr val="3B5563"/>
          </a:solidFill>
          <a:ln w="12700">
            <a:solidFill>
              <a:srgbClr val="3B5563"/>
            </a:solidFill>
            <a:prstDash val="solid"/>
          </a:ln>
          <a:effectLst>
            <a:outerShdw sx="100000" sy="100000" kx="0" ky="0" algn="bl" rotWithShape="0" blurRad="152400" dist="50800" dir="5400000">
              <a:srgbClr val="000000">
                <a:alpha val="28000"/>
              </a:srgbClr>
            </a:outerShdw>
          </a:effectLst>
        </p:spPr>
      </p:sp>
      <p:pic>
        <p:nvPicPr>
          <p:cNvPr id="7" name="Image 0" descr="Kinnect app screen: story time call">    </p:cNvPr>
          <p:cNvPicPr>
            <a:picLocks noChangeAspect="1"/>
          </p:cNvPicPr>
          <p:nvPr/>
        </p:nvPicPr>
        <p:blipFill>
          <a:blip r:embed="rId1"/>
          <a:stretch>
            <a:fillRect/>
          </a:stretch>
        </p:blipFill>
        <p:spPr>
          <a:xfrm>
            <a:off x="6903720" y="685800"/>
            <a:ext cx="2535185" cy="5486400"/>
          </a:xfrm>
          <a:prstGeom prst="rect">
            <a:avLst/>
          </a:prstGeom>
        </p:spPr>
      </p:pic>
      <p:sp>
        <p:nvSpPr>
          <p:cNvPr id="8" name="Shape 5"/>
          <p:cNvSpPr/>
          <p:nvPr/>
        </p:nvSpPr>
        <p:spPr>
          <a:xfrm>
            <a:off x="9582912" y="1170432"/>
            <a:ext cx="2325176" cy="4882896"/>
          </a:xfrm>
          <a:prstGeom prst="roundRect">
            <a:avLst>
              <a:gd name="adj" fmla="val 8652"/>
            </a:avLst>
          </a:prstGeom>
          <a:solidFill>
            <a:srgbClr val="3B5563"/>
          </a:solidFill>
          <a:ln w="12700">
            <a:solidFill>
              <a:srgbClr val="3B5563"/>
            </a:solidFill>
            <a:prstDash val="solid"/>
          </a:ln>
          <a:effectLst>
            <a:outerShdw sx="100000" sy="100000" kx="0" ky="0" algn="bl" rotWithShape="0" blurRad="152400" dist="50800" dir="5400000">
              <a:srgbClr val="000000">
                <a:alpha val="28000"/>
              </a:srgbClr>
            </a:outerShdw>
          </a:effectLst>
        </p:spPr>
      </p:sp>
      <p:pic>
        <p:nvPicPr>
          <p:cNvPr id="9" name="Image 1" descr="Kinnect app screen: chat list">    </p:cNvPr>
          <p:cNvPicPr>
            <a:picLocks noChangeAspect="1"/>
          </p:cNvPicPr>
          <p:nvPr/>
        </p:nvPicPr>
        <p:blipFill>
          <a:blip r:embed="rId2"/>
          <a:stretch>
            <a:fillRect/>
          </a:stretch>
        </p:blipFill>
        <p:spPr>
          <a:xfrm>
            <a:off x="9646920" y="1234440"/>
            <a:ext cx="2197160" cy="4754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Families are spread across the world</a:t>
            </a:r>
            <a:endParaRPr lang="en-US" sz="3400" dirty="0"/>
          </a:p>
        </p:txBody>
      </p:sp>
      <p:sp>
        <p:nvSpPr>
          <p:cNvPr id="3" name="Text 1"/>
          <p:cNvSpPr txBox="1"/>
          <p:nvPr/>
        </p:nvSpPr>
        <p:spPr>
          <a:xfrm>
            <a:off x="548640" y="1207008"/>
            <a:ext cx="105156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Chat apps connect people. They were not designed to keep generations close.</a:t>
            </a:r>
            <a:endParaRPr lang="en-US" sz="1600" dirty="0"/>
          </a:p>
        </p:txBody>
      </p:sp>
      <p:sp>
        <p:nvSpPr>
          <p:cNvPr id="4" name="Shape 2"/>
          <p:cNvSpPr/>
          <p:nvPr/>
        </p:nvSpPr>
        <p:spPr>
          <a:xfrm>
            <a:off x="548640" y="2331720"/>
            <a:ext cx="3474720" cy="3611880"/>
          </a:xfrm>
          <a:prstGeom prst="roundRect">
            <a:avLst>
              <a:gd name="adj" fmla="val 3947"/>
            </a:avLst>
          </a:prstGeom>
          <a:solidFill>
            <a:srgbClr val="F4F8FA"/>
          </a:solidFill>
          <a:ln w="12700">
            <a:solidFill>
              <a:srgbClr val="D9E2EA"/>
            </a:solidFill>
            <a:prstDash val="solid"/>
          </a:ln>
        </p:spPr>
      </p:sp>
      <p:pic>
        <p:nvPicPr>
          <p:cNvPr id="5" name="Image 0" descr="distance icon">    </p:cNvPr>
          <p:cNvPicPr>
            <a:picLocks noChangeAspect="1"/>
          </p:cNvPicPr>
          <p:nvPr/>
        </p:nvPicPr>
        <p:blipFill>
          <a:blip r:embed="rId1"/>
          <a:stretch>
            <a:fillRect/>
          </a:stretch>
        </p:blipFill>
        <p:spPr>
          <a:xfrm>
            <a:off x="868680" y="2697480"/>
            <a:ext cx="731520" cy="731520"/>
          </a:xfrm>
          <a:prstGeom prst="rect">
            <a:avLst/>
          </a:prstGeom>
        </p:spPr>
      </p:pic>
      <p:sp>
        <p:nvSpPr>
          <p:cNvPr id="6" name="Text 3"/>
          <p:cNvSpPr txBox="1"/>
          <p:nvPr/>
        </p:nvSpPr>
        <p:spPr>
          <a:xfrm>
            <a:off x="868680" y="3611880"/>
            <a:ext cx="2834640" cy="77724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Distance and time zones</a:t>
            </a:r>
            <a:endParaRPr lang="en-US" sz="2100" dirty="0"/>
          </a:p>
        </p:txBody>
      </p:sp>
      <p:sp>
        <p:nvSpPr>
          <p:cNvPr id="7" name="Text 4"/>
          <p:cNvSpPr txBox="1"/>
          <p:nvPr/>
        </p:nvSpPr>
        <p:spPr>
          <a:xfrm>
            <a:off x="868680" y="4434840"/>
            <a:ext cx="2834640" cy="137160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It's 6 PM for Dadi and 1 AM for her son in Toronto. Families guess the right time to call, or give up.</a:t>
            </a:r>
            <a:endParaRPr lang="en-US" sz="1600" dirty="0"/>
          </a:p>
        </p:txBody>
      </p:sp>
      <p:sp>
        <p:nvSpPr>
          <p:cNvPr id="8" name="Shape 5"/>
          <p:cNvSpPr/>
          <p:nvPr/>
        </p:nvSpPr>
        <p:spPr>
          <a:xfrm>
            <a:off x="4297680" y="2331720"/>
            <a:ext cx="3474720" cy="3611880"/>
          </a:xfrm>
          <a:prstGeom prst="roundRect">
            <a:avLst>
              <a:gd name="adj" fmla="val 3947"/>
            </a:avLst>
          </a:prstGeom>
          <a:solidFill>
            <a:srgbClr val="F4F8FA"/>
          </a:solidFill>
          <a:ln w="12700">
            <a:solidFill>
              <a:srgbClr val="D9E2EA"/>
            </a:solidFill>
            <a:prstDash val="solid"/>
          </a:ln>
        </p:spPr>
      </p:sp>
      <p:pic>
        <p:nvPicPr>
          <p:cNvPr id="9" name="Image 1" descr="phoneoff icon">    </p:cNvPr>
          <p:cNvPicPr>
            <a:picLocks noChangeAspect="1"/>
          </p:cNvPicPr>
          <p:nvPr/>
        </p:nvPicPr>
        <p:blipFill>
          <a:blip r:embed="rId2"/>
          <a:stretch>
            <a:fillRect/>
          </a:stretch>
        </p:blipFill>
        <p:spPr>
          <a:xfrm>
            <a:off x="4617720" y="2697480"/>
            <a:ext cx="731520" cy="731520"/>
          </a:xfrm>
          <a:prstGeom prst="rect">
            <a:avLst/>
          </a:prstGeom>
        </p:spPr>
      </p:pic>
      <p:sp>
        <p:nvSpPr>
          <p:cNvPr id="10" name="Text 6"/>
          <p:cNvSpPr txBox="1"/>
          <p:nvPr/>
        </p:nvSpPr>
        <p:spPr>
          <a:xfrm>
            <a:off x="4617720" y="3611880"/>
            <a:ext cx="2834640" cy="77724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Kids won't just talk on the phone</a:t>
            </a:r>
            <a:endParaRPr lang="en-US" sz="2100" dirty="0"/>
          </a:p>
        </p:txBody>
      </p:sp>
      <p:sp>
        <p:nvSpPr>
          <p:cNvPr id="11" name="Text 7"/>
          <p:cNvSpPr txBox="1"/>
          <p:nvPr/>
        </p:nvSpPr>
        <p:spPr>
          <a:xfrm>
            <a:off x="4617720" y="4434840"/>
            <a:ext cx="2834640" cy="137160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A 7-year-old loses interest in a video call in two minutes. There is nothing to do together.</a:t>
            </a:r>
            <a:endParaRPr lang="en-US" sz="1600" dirty="0"/>
          </a:p>
        </p:txBody>
      </p:sp>
      <p:sp>
        <p:nvSpPr>
          <p:cNvPr id="12" name="Shape 8"/>
          <p:cNvSpPr/>
          <p:nvPr/>
        </p:nvSpPr>
        <p:spPr>
          <a:xfrm>
            <a:off x="8046720" y="2331720"/>
            <a:ext cx="3474720" cy="3611880"/>
          </a:xfrm>
          <a:prstGeom prst="roundRect">
            <a:avLst>
              <a:gd name="adj" fmla="val 3947"/>
            </a:avLst>
          </a:prstGeom>
          <a:solidFill>
            <a:srgbClr val="F4F8FA"/>
          </a:solidFill>
          <a:ln w="12700">
            <a:solidFill>
              <a:srgbClr val="D9E2EA"/>
            </a:solidFill>
            <a:prstDash val="solid"/>
          </a:ln>
        </p:spPr>
      </p:sp>
      <p:pic>
        <p:nvPicPr>
          <p:cNvPr id="13" name="Image 2" descr="alert icon">    </p:cNvPr>
          <p:cNvPicPr>
            <a:picLocks noChangeAspect="1"/>
          </p:cNvPicPr>
          <p:nvPr/>
        </p:nvPicPr>
        <p:blipFill>
          <a:blip r:embed="rId3"/>
          <a:stretch>
            <a:fillRect/>
          </a:stretch>
        </p:blipFill>
        <p:spPr>
          <a:xfrm>
            <a:off x="8366760" y="2697480"/>
            <a:ext cx="731520" cy="731520"/>
          </a:xfrm>
          <a:prstGeom prst="rect">
            <a:avLst/>
          </a:prstGeom>
        </p:spPr>
      </p:pic>
      <p:sp>
        <p:nvSpPr>
          <p:cNvPr id="14" name="Text 9"/>
          <p:cNvSpPr txBox="1"/>
          <p:nvPr/>
        </p:nvSpPr>
        <p:spPr>
          <a:xfrm>
            <a:off x="8366760" y="3611880"/>
            <a:ext cx="2834640" cy="77724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Apps are hard, and risky, for elders</a:t>
            </a:r>
            <a:endParaRPr lang="en-US" sz="2100" dirty="0"/>
          </a:p>
        </p:txBody>
      </p:sp>
      <p:sp>
        <p:nvSpPr>
          <p:cNvPr id="15" name="Text 10"/>
          <p:cNvSpPr txBox="1"/>
          <p:nvPr/>
        </p:nvSpPr>
        <p:spPr>
          <a:xfrm>
            <a:off x="8366760" y="4434840"/>
            <a:ext cx="2834640" cy="137160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Small text, crowded screens and scam messages asking for OTPs and bank details.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7490"/>
        </a:solidFill>
      </p:bgPr>
    </p:bg>
    <p:spTree>
      <p:nvGrpSpPr>
        <p:cNvPr id="1" name=""/>
        <p:cNvGrpSpPr/>
        <p:nvPr/>
      </p:nvGrpSpPr>
      <p:grpSpPr>
        <a:xfrm>
          <a:off x="0" y="0"/>
          <a:ext cx="0" cy="0"/>
          <a:chOff x="0" y="0"/>
          <a:chExt cx="0" cy="0"/>
        </a:xfrm>
      </p:grpSpPr>
      <p:sp>
        <p:nvSpPr>
          <p:cNvPr id="2" name="Text 0"/>
          <p:cNvSpPr txBox="1"/>
          <p:nvPr/>
        </p:nvSpPr>
        <p:spPr>
          <a:xfrm>
            <a:off x="640080" y="1005840"/>
            <a:ext cx="10972800" cy="822960"/>
          </a:xfrm>
          <a:prstGeom prst="rect">
            <a:avLst/>
          </a:prstGeom>
          <a:noFill/>
          <a:ln/>
        </p:spPr>
        <p:txBody>
          <a:bodyPr wrap="square" lIns="0" tIns="0" rIns="0" bIns="0" rtlCol="0" anchor="ctr"/>
          <a:lstStyle/>
          <a:p>
            <a:pPr indent="0" marL="0">
              <a:buNone/>
            </a:pPr>
            <a:r>
              <a:rPr lang="en-US" sz="4000" dirty="0">
                <a:solidFill>
                  <a:srgbClr val="CFEFF4"/>
                </a:solidFill>
                <a:latin typeface="Cambria" pitchFamily="34" charset="0"/>
                <a:ea typeface="Cambria" pitchFamily="34" charset="-122"/>
                <a:cs typeface="Cambria" pitchFamily="34" charset="-120"/>
              </a:rPr>
              <a:t>Other apps connect people.</a:t>
            </a:r>
            <a:endParaRPr lang="en-US" sz="4000" dirty="0"/>
          </a:p>
        </p:txBody>
      </p:sp>
      <p:sp>
        <p:nvSpPr>
          <p:cNvPr id="3" name="Text 1"/>
          <p:cNvSpPr txBox="1"/>
          <p:nvPr/>
        </p:nvSpPr>
        <p:spPr>
          <a:xfrm>
            <a:off x="640080" y="178308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Kinnect connects generations.</a:t>
            </a:r>
            <a:endParaRPr lang="en-US" sz="4400" dirty="0"/>
          </a:p>
        </p:txBody>
      </p:sp>
      <p:sp>
        <p:nvSpPr>
          <p:cNvPr id="4" name="Shape 2"/>
          <p:cNvSpPr/>
          <p:nvPr/>
        </p:nvSpPr>
        <p:spPr>
          <a:xfrm>
            <a:off x="640080" y="3291840"/>
            <a:ext cx="2560320" cy="2743200"/>
          </a:xfrm>
          <a:prstGeom prst="roundRect">
            <a:avLst>
              <a:gd name="adj" fmla="val 5357"/>
            </a:avLst>
          </a:prstGeom>
          <a:solidFill>
            <a:srgbClr val="FFFFFF"/>
          </a:solidFill>
          <a:ln w="12700">
            <a:solidFill>
              <a:srgbClr val="FFFFFF"/>
            </a:solidFill>
            <a:prstDash val="solid"/>
          </a:ln>
        </p:spPr>
      </p:sp>
      <p:pic>
        <p:nvPicPr>
          <p:cNvPr id="5" name="Image 0" descr="play icon">    </p:cNvPr>
          <p:cNvPicPr>
            <a:picLocks noChangeAspect="1"/>
          </p:cNvPicPr>
          <p:nvPr/>
        </p:nvPicPr>
        <p:blipFill>
          <a:blip r:embed="rId1"/>
          <a:stretch>
            <a:fillRect/>
          </a:stretch>
        </p:blipFill>
        <p:spPr>
          <a:xfrm>
            <a:off x="914400" y="3566160"/>
            <a:ext cx="603504" cy="603504"/>
          </a:xfrm>
          <a:prstGeom prst="rect">
            <a:avLst/>
          </a:prstGeom>
        </p:spPr>
      </p:pic>
      <p:sp>
        <p:nvSpPr>
          <p:cNvPr id="6" name="Text 3"/>
          <p:cNvSpPr txBox="1"/>
          <p:nvPr/>
        </p:nvSpPr>
        <p:spPr>
          <a:xfrm>
            <a:off x="914400" y="4315968"/>
            <a:ext cx="2103120" cy="41148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Play together</a:t>
            </a:r>
            <a:endParaRPr lang="en-US" sz="1800" dirty="0"/>
          </a:p>
        </p:txBody>
      </p:sp>
      <p:sp>
        <p:nvSpPr>
          <p:cNvPr id="7" name="Text 4"/>
          <p:cNvSpPr txBox="1"/>
          <p:nvPr/>
        </p:nvSpPr>
        <p:spPr>
          <a:xfrm>
            <a:off x="914400" y="4754880"/>
            <a:ext cx="2103120" cy="11887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Stories, drawing and games on the video call, on both screens.</a:t>
            </a:r>
            <a:endParaRPr lang="en-US" sz="1400" dirty="0"/>
          </a:p>
        </p:txBody>
      </p:sp>
      <p:sp>
        <p:nvSpPr>
          <p:cNvPr id="8" name="Shape 5"/>
          <p:cNvSpPr/>
          <p:nvPr/>
        </p:nvSpPr>
        <p:spPr>
          <a:xfrm>
            <a:off x="3429000" y="3291840"/>
            <a:ext cx="2560320" cy="2743200"/>
          </a:xfrm>
          <a:prstGeom prst="roundRect">
            <a:avLst>
              <a:gd name="adj" fmla="val 5357"/>
            </a:avLst>
          </a:prstGeom>
          <a:solidFill>
            <a:srgbClr val="FFFFFF"/>
          </a:solidFill>
          <a:ln w="12700">
            <a:solidFill>
              <a:srgbClr val="FFFFFF"/>
            </a:solidFill>
            <a:prstDash val="solid"/>
          </a:ln>
        </p:spPr>
      </p:sp>
      <p:pic>
        <p:nvPicPr>
          <p:cNvPr id="9" name="Image 1" descr="care icon">    </p:cNvPr>
          <p:cNvPicPr>
            <a:picLocks noChangeAspect="1"/>
          </p:cNvPicPr>
          <p:nvPr/>
        </p:nvPicPr>
        <p:blipFill>
          <a:blip r:embed="rId2"/>
          <a:stretch>
            <a:fillRect/>
          </a:stretch>
        </p:blipFill>
        <p:spPr>
          <a:xfrm>
            <a:off x="3703320" y="3566160"/>
            <a:ext cx="603504" cy="603504"/>
          </a:xfrm>
          <a:prstGeom prst="rect">
            <a:avLst/>
          </a:prstGeom>
        </p:spPr>
      </p:pic>
      <p:sp>
        <p:nvSpPr>
          <p:cNvPr id="10" name="Text 6"/>
          <p:cNvSpPr txBox="1"/>
          <p:nvPr/>
        </p:nvSpPr>
        <p:spPr>
          <a:xfrm>
            <a:off x="3703320" y="4315968"/>
            <a:ext cx="2103120" cy="41148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Care for each other</a:t>
            </a:r>
            <a:endParaRPr lang="en-US" sz="1800" dirty="0"/>
          </a:p>
        </p:txBody>
      </p:sp>
      <p:sp>
        <p:nvSpPr>
          <p:cNvPr id="11" name="Text 7"/>
          <p:cNvSpPr txBox="1"/>
          <p:nvPr/>
        </p:nvSpPr>
        <p:spPr>
          <a:xfrm>
            <a:off x="3703320" y="4754880"/>
            <a:ext cx="2103120" cy="11887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Daily I'm OK, medicine reminders and SOS, shared with family.</a:t>
            </a:r>
            <a:endParaRPr lang="en-US" sz="1400" dirty="0"/>
          </a:p>
        </p:txBody>
      </p:sp>
      <p:sp>
        <p:nvSpPr>
          <p:cNvPr id="12" name="Shape 8"/>
          <p:cNvSpPr/>
          <p:nvPr/>
        </p:nvSpPr>
        <p:spPr>
          <a:xfrm>
            <a:off x="6217920" y="3291840"/>
            <a:ext cx="2560320" cy="2743200"/>
          </a:xfrm>
          <a:prstGeom prst="roundRect">
            <a:avLst>
              <a:gd name="adj" fmla="val 5357"/>
            </a:avLst>
          </a:prstGeom>
          <a:solidFill>
            <a:srgbClr val="FFFFFF"/>
          </a:solidFill>
          <a:ln w="12700">
            <a:solidFill>
              <a:srgbClr val="FFFFFF"/>
            </a:solidFill>
            <a:prstDash val="solid"/>
          </a:ln>
        </p:spPr>
      </p:sp>
      <p:pic>
        <p:nvPicPr>
          <p:cNvPr id="13" name="Image 2" descr="elder icon">    </p:cNvPr>
          <p:cNvPicPr>
            <a:picLocks noChangeAspect="1"/>
          </p:cNvPicPr>
          <p:nvPr/>
        </p:nvPicPr>
        <p:blipFill>
          <a:blip r:embed="rId3"/>
          <a:stretch>
            <a:fillRect/>
          </a:stretch>
        </p:blipFill>
        <p:spPr>
          <a:xfrm>
            <a:off x="6492240" y="3566160"/>
            <a:ext cx="603504" cy="603504"/>
          </a:xfrm>
          <a:prstGeom prst="rect">
            <a:avLst/>
          </a:prstGeom>
        </p:spPr>
      </p:pic>
      <p:sp>
        <p:nvSpPr>
          <p:cNvPr id="14" name="Text 9"/>
          <p:cNvSpPr txBox="1"/>
          <p:nvPr/>
        </p:nvSpPr>
        <p:spPr>
          <a:xfrm>
            <a:off x="6492240" y="4315968"/>
            <a:ext cx="2103120" cy="41148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Simple for every age</a:t>
            </a:r>
            <a:endParaRPr lang="en-US" sz="1800" dirty="0"/>
          </a:p>
        </p:txBody>
      </p:sp>
      <p:sp>
        <p:nvSpPr>
          <p:cNvPr id="15" name="Text 10"/>
          <p:cNvSpPr txBox="1"/>
          <p:nvPr/>
        </p:nvSpPr>
        <p:spPr>
          <a:xfrm>
            <a:off x="6492240" y="4754880"/>
            <a:ext cx="2103120" cy="11887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Simple mode, big text, voice and read-aloud, in Indian languages.</a:t>
            </a:r>
            <a:endParaRPr lang="en-US" sz="1400" dirty="0"/>
          </a:p>
        </p:txBody>
      </p:sp>
      <p:sp>
        <p:nvSpPr>
          <p:cNvPr id="16" name="Shape 11"/>
          <p:cNvSpPr/>
          <p:nvPr/>
        </p:nvSpPr>
        <p:spPr>
          <a:xfrm>
            <a:off x="9006840" y="3291840"/>
            <a:ext cx="2560320" cy="2743200"/>
          </a:xfrm>
          <a:prstGeom prst="roundRect">
            <a:avLst>
              <a:gd name="adj" fmla="val 5357"/>
            </a:avLst>
          </a:prstGeom>
          <a:solidFill>
            <a:srgbClr val="FFFFFF"/>
          </a:solidFill>
          <a:ln w="12700">
            <a:solidFill>
              <a:srgbClr val="FFFFFF"/>
            </a:solidFill>
            <a:prstDash val="solid"/>
          </a:ln>
        </p:spPr>
      </p:sp>
      <p:pic>
        <p:nvPicPr>
          <p:cNvPr id="17" name="Image 3" descr="lock icon">    </p:cNvPr>
          <p:cNvPicPr>
            <a:picLocks noChangeAspect="1"/>
          </p:cNvPicPr>
          <p:nvPr/>
        </p:nvPicPr>
        <p:blipFill>
          <a:blip r:embed="rId4"/>
          <a:stretch>
            <a:fillRect/>
          </a:stretch>
        </p:blipFill>
        <p:spPr>
          <a:xfrm>
            <a:off x="9281160" y="3566160"/>
            <a:ext cx="603504" cy="603504"/>
          </a:xfrm>
          <a:prstGeom prst="rect">
            <a:avLst/>
          </a:prstGeom>
        </p:spPr>
      </p:pic>
      <p:sp>
        <p:nvSpPr>
          <p:cNvPr id="18" name="Text 12"/>
          <p:cNvSpPr txBox="1"/>
          <p:nvPr/>
        </p:nvSpPr>
        <p:spPr>
          <a:xfrm>
            <a:off x="9281160" y="4315968"/>
            <a:ext cx="2103120" cy="41148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Private by design</a:t>
            </a:r>
            <a:endParaRPr lang="en-US" sz="1800" dirty="0"/>
          </a:p>
        </p:txBody>
      </p:sp>
      <p:sp>
        <p:nvSpPr>
          <p:cNvPr id="19" name="Text 13"/>
          <p:cNvSpPr txBox="1"/>
          <p:nvPr/>
        </p:nvSpPr>
        <p:spPr>
          <a:xfrm>
            <a:off x="9281160" y="4754880"/>
            <a:ext cx="2103120" cy="11887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End-to-end encrypted. No ads. Contacts never uploaded.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12064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Play together on calls</a:t>
            </a:r>
            <a:endParaRPr lang="en-US" sz="3400" dirty="0"/>
          </a:p>
        </p:txBody>
      </p:sp>
      <p:sp>
        <p:nvSpPr>
          <p:cNvPr id="3" name="Text 1"/>
          <p:cNvSpPr txBox="1"/>
          <p:nvPr/>
        </p:nvSpPr>
        <p:spPr>
          <a:xfrm>
            <a:off x="548640" y="1207008"/>
            <a:ext cx="512064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Grandparents and grandchildren share the same story, drawing or game — on both screens, while they talk.</a:t>
            </a:r>
            <a:endParaRPr lang="en-US" sz="1600" dirty="0"/>
          </a:p>
        </p:txBody>
      </p:sp>
      <p:pic>
        <p:nvPicPr>
          <p:cNvPr id="4" name="Image 0" descr="story icon">    </p:cNvPr>
          <p:cNvPicPr>
            <a:picLocks noChangeAspect="1"/>
          </p:cNvPicPr>
          <p:nvPr/>
        </p:nvPicPr>
        <p:blipFill>
          <a:blip r:embed="rId1"/>
          <a:stretch>
            <a:fillRect/>
          </a:stretch>
        </p:blipFill>
        <p:spPr>
          <a:xfrm>
            <a:off x="548640" y="2514600"/>
            <a:ext cx="475488" cy="475488"/>
          </a:xfrm>
          <a:prstGeom prst="rect">
            <a:avLst/>
          </a:prstGeom>
        </p:spPr>
      </p:pic>
      <p:sp>
        <p:nvSpPr>
          <p:cNvPr id="5" name="Text 2"/>
          <p:cNvSpPr txBox="1"/>
          <p:nvPr/>
        </p:nvSpPr>
        <p:spPr>
          <a:xfrm>
            <a:off x="1207008" y="2478024"/>
            <a:ext cx="42793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Story Time</a:t>
            </a:r>
            <a:endParaRPr lang="en-US" sz="1700" dirty="0"/>
          </a:p>
        </p:txBody>
      </p:sp>
      <p:sp>
        <p:nvSpPr>
          <p:cNvPr id="6" name="Text 3"/>
          <p:cNvSpPr txBox="1"/>
          <p:nvPr/>
        </p:nvSpPr>
        <p:spPr>
          <a:xfrm>
            <a:off x="1207008" y="2807208"/>
            <a:ext cx="42793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Five illustrated tales. Either person turns the page; both screens follow. Read-aloud built in.</a:t>
            </a:r>
            <a:endParaRPr lang="en-US" sz="1350" dirty="0"/>
          </a:p>
        </p:txBody>
      </p:sp>
      <p:pic>
        <p:nvPicPr>
          <p:cNvPr id="7" name="Image 1" descr="play icon">    </p:cNvPr>
          <p:cNvPicPr>
            <a:picLocks noChangeAspect="1"/>
          </p:cNvPicPr>
          <p:nvPr/>
        </p:nvPicPr>
        <p:blipFill>
          <a:blip r:embed="rId2"/>
          <a:stretch>
            <a:fillRect/>
          </a:stretch>
        </p:blipFill>
        <p:spPr>
          <a:xfrm>
            <a:off x="548640" y="3611880"/>
            <a:ext cx="475488" cy="475488"/>
          </a:xfrm>
          <a:prstGeom prst="rect">
            <a:avLst/>
          </a:prstGeom>
        </p:spPr>
      </p:pic>
      <p:sp>
        <p:nvSpPr>
          <p:cNvPr id="8" name="Text 4"/>
          <p:cNvSpPr txBox="1"/>
          <p:nvPr/>
        </p:nvSpPr>
        <p:spPr>
          <a:xfrm>
            <a:off x="1207008" y="3575304"/>
            <a:ext cx="42793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Draw, guess and play</a:t>
            </a:r>
            <a:endParaRPr lang="en-US" sz="1700" dirty="0"/>
          </a:p>
        </p:txBody>
      </p:sp>
      <p:sp>
        <p:nvSpPr>
          <p:cNvPr id="9" name="Text 5"/>
          <p:cNvSpPr txBox="1"/>
          <p:nvPr/>
        </p:nvSpPr>
        <p:spPr>
          <a:xfrm>
            <a:off x="1207008" y="3904488"/>
            <a:ext cx="42793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Draw Together with stickers, Draw &amp; Guess, Tic-Tac-Toe, Memory Match, Snakes &amp; Ladders.</a:t>
            </a:r>
            <a:endParaRPr lang="en-US" sz="1350" dirty="0"/>
          </a:p>
        </p:txBody>
      </p:sp>
      <p:pic>
        <p:nvPicPr>
          <p:cNvPr id="10" name="Image 2" descr="video icon">    </p:cNvPr>
          <p:cNvPicPr>
            <a:picLocks noChangeAspect="1"/>
          </p:cNvPicPr>
          <p:nvPr/>
        </p:nvPicPr>
        <p:blipFill>
          <a:blip r:embed="rId3"/>
          <a:stretch>
            <a:fillRect/>
          </a:stretch>
        </p:blipFill>
        <p:spPr>
          <a:xfrm>
            <a:off x="548640" y="4709160"/>
            <a:ext cx="475488" cy="475488"/>
          </a:xfrm>
          <a:prstGeom prst="rect">
            <a:avLst/>
          </a:prstGeom>
        </p:spPr>
      </p:pic>
      <p:sp>
        <p:nvSpPr>
          <p:cNvPr id="11" name="Text 6"/>
          <p:cNvSpPr txBox="1"/>
          <p:nvPr/>
        </p:nvSpPr>
        <p:spPr>
          <a:xfrm>
            <a:off x="1207008" y="4672584"/>
            <a:ext cx="42793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Watch together &amp; festivals</a:t>
            </a:r>
            <a:endParaRPr lang="en-US" sz="1700" dirty="0"/>
          </a:p>
        </p:txBody>
      </p:sp>
      <p:sp>
        <p:nvSpPr>
          <p:cNvPr id="12" name="Text 7"/>
          <p:cNvSpPr txBox="1"/>
          <p:nvPr/>
        </p:nvSpPr>
        <p:spPr>
          <a:xfrm>
            <a:off x="1207008" y="5001768"/>
            <a:ext cx="42793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A YouTube video in sync, and Light the Diyas for Diwali. Face stays visible the whole time.</a:t>
            </a:r>
            <a:endParaRPr lang="en-US" sz="1350" dirty="0"/>
          </a:p>
        </p:txBody>
      </p:sp>
      <p:sp>
        <p:nvSpPr>
          <p:cNvPr id="13" name="Shape 8"/>
          <p:cNvSpPr/>
          <p:nvPr/>
        </p:nvSpPr>
        <p:spPr>
          <a:xfrm>
            <a:off x="592531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4" name="Image 3" descr="Kinnect app screen: story time call">    </p:cNvPr>
          <p:cNvPicPr>
            <a:picLocks noChangeAspect="1"/>
          </p:cNvPicPr>
          <p:nvPr/>
        </p:nvPicPr>
        <p:blipFill>
          <a:blip r:embed="rId4"/>
          <a:stretch>
            <a:fillRect/>
          </a:stretch>
        </p:blipFill>
        <p:spPr>
          <a:xfrm>
            <a:off x="5989320" y="1143000"/>
            <a:ext cx="2239413" cy="4846320"/>
          </a:xfrm>
          <a:prstGeom prst="rect">
            <a:avLst/>
          </a:prstGeom>
        </p:spPr>
      </p:pic>
      <p:sp>
        <p:nvSpPr>
          <p:cNvPr id="15" name="Shape 9"/>
          <p:cNvSpPr/>
          <p:nvPr/>
        </p:nvSpPr>
        <p:spPr>
          <a:xfrm>
            <a:off x="839419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6" name="Image 4" descr="Kinnect app screen: draw together">    </p:cNvPr>
          <p:cNvPicPr>
            <a:picLocks noChangeAspect="1"/>
          </p:cNvPicPr>
          <p:nvPr/>
        </p:nvPicPr>
        <p:blipFill>
          <a:blip r:embed="rId5"/>
          <a:stretch>
            <a:fillRect/>
          </a:stretch>
        </p:blipFill>
        <p:spPr>
          <a:xfrm>
            <a:off x="8458200" y="1143000"/>
            <a:ext cx="2239413" cy="4846320"/>
          </a:xfrm>
          <a:prstGeom prst="rect">
            <a:avLst/>
          </a:prstGeom>
        </p:spPr>
      </p:pic>
      <p:sp>
        <p:nvSpPr>
          <p:cNvPr id="17" name="Text 10"/>
          <p:cNvSpPr txBox="1"/>
          <p:nvPr/>
        </p:nvSpPr>
        <p:spPr>
          <a:xfrm>
            <a:off x="598932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Story Time on a call</a:t>
            </a:r>
            <a:endParaRPr lang="en-US" sz="1100" dirty="0"/>
          </a:p>
        </p:txBody>
      </p:sp>
      <p:sp>
        <p:nvSpPr>
          <p:cNvPr id="18" name="Text 11"/>
          <p:cNvSpPr txBox="1"/>
          <p:nvPr/>
        </p:nvSpPr>
        <p:spPr>
          <a:xfrm>
            <a:off x="845820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Draw Together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Kids want to call back</a:t>
            </a:r>
            <a:endParaRPr lang="en-US" sz="3400" dirty="0"/>
          </a:p>
        </p:txBody>
      </p:sp>
      <p:sp>
        <p:nvSpPr>
          <p:cNvPr id="3" name="Text 1"/>
          <p:cNvSpPr txBox="1"/>
          <p:nvPr/>
        </p:nvSpPr>
        <p:spPr>
          <a:xfrm>
            <a:off x="548640" y="1207008"/>
            <a:ext cx="54864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Small rewards turn "call Dadi" into something children ask for.</a:t>
            </a:r>
            <a:endParaRPr lang="en-US" sz="1600" dirty="0"/>
          </a:p>
        </p:txBody>
      </p:sp>
      <p:pic>
        <p:nvPicPr>
          <p:cNvPr id="4" name="Image 0" descr="kids icon">    </p:cNvPr>
          <p:cNvPicPr>
            <a:picLocks noChangeAspect="1"/>
          </p:cNvPicPr>
          <p:nvPr/>
        </p:nvPicPr>
        <p:blipFill>
          <a:blip r:embed="rId1"/>
          <a:stretch>
            <a:fillRect/>
          </a:stretch>
        </p:blipFill>
        <p:spPr>
          <a:xfrm>
            <a:off x="548640" y="2377440"/>
            <a:ext cx="475488" cy="475488"/>
          </a:xfrm>
          <a:prstGeom prst="rect">
            <a:avLst/>
          </a:prstGeom>
        </p:spPr>
      </p:pic>
      <p:sp>
        <p:nvSpPr>
          <p:cNvPr id="5" name="Text 2"/>
          <p:cNvSpPr txBox="1"/>
          <p:nvPr/>
        </p:nvSpPr>
        <p:spPr>
          <a:xfrm>
            <a:off x="1207008" y="234086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Sticker book</a:t>
            </a:r>
            <a:endParaRPr lang="en-US" sz="1700" dirty="0"/>
          </a:p>
        </p:txBody>
      </p:sp>
      <p:sp>
        <p:nvSpPr>
          <p:cNvPr id="6" name="Text 3"/>
          <p:cNvSpPr txBox="1"/>
          <p:nvPr/>
        </p:nvSpPr>
        <p:spPr>
          <a:xfrm>
            <a:off x="1207008" y="267004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Stickers for the first call, playing together, listening to a story, lighting diyas.</a:t>
            </a:r>
            <a:endParaRPr lang="en-US" sz="1350" dirty="0"/>
          </a:p>
        </p:txBody>
      </p:sp>
      <p:pic>
        <p:nvPicPr>
          <p:cNvPr id="7" name="Image 1" descr="bell icon">    </p:cNvPr>
          <p:cNvPicPr>
            <a:picLocks noChangeAspect="1"/>
          </p:cNvPicPr>
          <p:nvPr/>
        </p:nvPicPr>
        <p:blipFill>
          <a:blip r:embed="rId2"/>
          <a:stretch>
            <a:fillRect/>
          </a:stretch>
        </p:blipFill>
        <p:spPr>
          <a:xfrm>
            <a:off x="548640" y="3474720"/>
            <a:ext cx="475488" cy="475488"/>
          </a:xfrm>
          <a:prstGeom prst="rect">
            <a:avLst/>
          </a:prstGeom>
        </p:spPr>
      </p:pic>
      <p:sp>
        <p:nvSpPr>
          <p:cNvPr id="8" name="Text 4"/>
          <p:cNvSpPr txBox="1"/>
          <p:nvPr/>
        </p:nvSpPr>
        <p:spPr>
          <a:xfrm>
            <a:off x="1207008" y="343814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Weekly call streaks</a:t>
            </a:r>
            <a:endParaRPr lang="en-US" sz="1700" dirty="0"/>
          </a:p>
        </p:txBody>
      </p:sp>
      <p:sp>
        <p:nvSpPr>
          <p:cNvPr id="9" name="Text 5"/>
          <p:cNvSpPr txBox="1"/>
          <p:nvPr/>
        </p:nvSpPr>
        <p:spPr>
          <a:xfrm>
            <a:off x="1207008" y="376732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"4 weeks in a row with Dadi" shows next to each name on the Calls tab.</a:t>
            </a:r>
            <a:endParaRPr lang="en-US" sz="1350" dirty="0"/>
          </a:p>
        </p:txBody>
      </p:sp>
      <p:pic>
        <p:nvPicPr>
          <p:cNvPr id="10" name="Image 2" descr="story icon">    </p:cNvPr>
          <p:cNvPicPr>
            <a:picLocks noChangeAspect="1"/>
          </p:cNvPicPr>
          <p:nvPr/>
        </p:nvPicPr>
        <p:blipFill>
          <a:blip r:embed="rId3"/>
          <a:stretch>
            <a:fillRect/>
          </a:stretch>
        </p:blipFill>
        <p:spPr>
          <a:xfrm>
            <a:off x="548640" y="4572000"/>
            <a:ext cx="475488" cy="475488"/>
          </a:xfrm>
          <a:prstGeom prst="rect">
            <a:avLst/>
          </a:prstGeom>
        </p:spPr>
      </p:pic>
      <p:sp>
        <p:nvSpPr>
          <p:cNvPr id="11" name="Text 6"/>
          <p:cNvSpPr txBox="1"/>
          <p:nvPr/>
        </p:nvSpPr>
        <p:spPr>
          <a:xfrm>
            <a:off x="1207008" y="453542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Grandma's voice, any time</a:t>
            </a:r>
            <a:endParaRPr lang="en-US" sz="1700" dirty="0"/>
          </a:p>
        </p:txBody>
      </p:sp>
      <p:sp>
        <p:nvSpPr>
          <p:cNvPr id="12" name="Text 7"/>
          <p:cNvSpPr txBox="1"/>
          <p:nvPr/>
        </p:nvSpPr>
        <p:spPr>
          <a:xfrm>
            <a:off x="1207008" y="486460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Grandparents record bedtime stories; kids play them from the Story library.</a:t>
            </a:r>
            <a:endParaRPr lang="en-US" sz="1350" dirty="0"/>
          </a:p>
        </p:txBody>
      </p:sp>
      <p:sp>
        <p:nvSpPr>
          <p:cNvPr id="13" name="Shape 8"/>
          <p:cNvSpPr/>
          <p:nvPr/>
        </p:nvSpPr>
        <p:spPr>
          <a:xfrm>
            <a:off x="601675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4" name="Image 3" descr="Kinnect app screen: diyas">    </p:cNvPr>
          <p:cNvPicPr>
            <a:picLocks noChangeAspect="1"/>
          </p:cNvPicPr>
          <p:nvPr/>
        </p:nvPicPr>
        <p:blipFill>
          <a:blip r:embed="rId4"/>
          <a:stretch>
            <a:fillRect/>
          </a:stretch>
        </p:blipFill>
        <p:spPr>
          <a:xfrm>
            <a:off x="6080760" y="1143000"/>
            <a:ext cx="2239413" cy="4846320"/>
          </a:xfrm>
          <a:prstGeom prst="rect">
            <a:avLst/>
          </a:prstGeom>
        </p:spPr>
      </p:pic>
      <p:sp>
        <p:nvSpPr>
          <p:cNvPr id="15" name="Shape 9"/>
          <p:cNvSpPr/>
          <p:nvPr/>
        </p:nvSpPr>
        <p:spPr>
          <a:xfrm>
            <a:off x="848563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6" name="Image 4" descr="Kinnect app screen: play stickers">    </p:cNvPr>
          <p:cNvPicPr>
            <a:picLocks noChangeAspect="1"/>
          </p:cNvPicPr>
          <p:nvPr/>
        </p:nvPicPr>
        <p:blipFill>
          <a:blip r:embed="rId5"/>
          <a:stretch>
            <a:fillRect/>
          </a:stretch>
        </p:blipFill>
        <p:spPr>
          <a:xfrm>
            <a:off x="8549640" y="1143000"/>
            <a:ext cx="2239413" cy="4846320"/>
          </a:xfrm>
          <a:prstGeom prst="rect">
            <a:avLst/>
          </a:prstGeom>
        </p:spPr>
      </p:pic>
      <p:sp>
        <p:nvSpPr>
          <p:cNvPr id="17" name="Text 10"/>
          <p:cNvSpPr txBox="1"/>
          <p:nvPr/>
        </p:nvSpPr>
        <p:spPr>
          <a:xfrm>
            <a:off x="608076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Light the Diyas</a:t>
            </a:r>
            <a:endParaRPr lang="en-US" sz="1100" dirty="0"/>
          </a:p>
        </p:txBody>
      </p:sp>
      <p:sp>
        <p:nvSpPr>
          <p:cNvPr id="18" name="Text 11"/>
          <p:cNvSpPr txBox="1"/>
          <p:nvPr/>
        </p:nvSpPr>
        <p:spPr>
          <a:xfrm>
            <a:off x="854964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Play tab &amp; sticker book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Care that works across oceans</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Family can look after elders from anywhere — privately, without constant calls.</a:t>
            </a:r>
            <a:endParaRPr lang="en-US" sz="1600" dirty="0"/>
          </a:p>
        </p:txBody>
      </p:sp>
      <p:sp>
        <p:nvSpPr>
          <p:cNvPr id="4" name="Shape 2"/>
          <p:cNvSpPr/>
          <p:nvPr/>
        </p:nvSpPr>
        <p:spPr>
          <a:xfrm>
            <a:off x="484632" y="1856232"/>
            <a:ext cx="2071658" cy="4334256"/>
          </a:xfrm>
          <a:prstGeom prst="roundRect">
            <a:avLst>
              <a:gd name="adj" fmla="val 9710"/>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5" name="Image 0" descr="Kinnect app screen: family care">    </p:cNvPr>
          <p:cNvPicPr>
            <a:picLocks noChangeAspect="1"/>
          </p:cNvPicPr>
          <p:nvPr/>
        </p:nvPicPr>
        <p:blipFill>
          <a:blip r:embed="rId1"/>
          <a:stretch>
            <a:fillRect/>
          </a:stretch>
        </p:blipFill>
        <p:spPr>
          <a:xfrm>
            <a:off x="548640" y="1920240"/>
            <a:ext cx="1943642" cy="4206240"/>
          </a:xfrm>
          <a:prstGeom prst="rect">
            <a:avLst/>
          </a:prstGeom>
        </p:spPr>
      </p:pic>
      <p:sp>
        <p:nvSpPr>
          <p:cNvPr id="6" name="Text 3"/>
          <p:cNvSpPr txBox="1"/>
          <p:nvPr/>
        </p:nvSpPr>
        <p:spPr>
          <a:xfrm>
            <a:off x="548640" y="6263640"/>
            <a:ext cx="1943642"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Dadi: I'm OK + medicines</a:t>
            </a:r>
            <a:endParaRPr lang="en-US" sz="1100" dirty="0"/>
          </a:p>
        </p:txBody>
      </p:sp>
      <p:sp>
        <p:nvSpPr>
          <p:cNvPr id="7" name="Shape 4"/>
          <p:cNvSpPr/>
          <p:nvPr/>
        </p:nvSpPr>
        <p:spPr>
          <a:xfrm>
            <a:off x="4251960" y="1856232"/>
            <a:ext cx="2071658" cy="4334256"/>
          </a:xfrm>
          <a:prstGeom prst="roundRect">
            <a:avLst>
              <a:gd name="adj" fmla="val 9710"/>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8" name="Image 1" descr="Kinnect app screen: caregiver">    </p:cNvPr>
          <p:cNvPicPr>
            <a:picLocks noChangeAspect="1"/>
          </p:cNvPicPr>
          <p:nvPr/>
        </p:nvPicPr>
        <p:blipFill>
          <a:blip r:embed="rId2"/>
          <a:stretch>
            <a:fillRect/>
          </a:stretch>
        </p:blipFill>
        <p:spPr>
          <a:xfrm>
            <a:off x="4315968" y="1920240"/>
            <a:ext cx="1943642" cy="4206240"/>
          </a:xfrm>
          <a:prstGeom prst="rect">
            <a:avLst/>
          </a:prstGeom>
        </p:spPr>
      </p:pic>
      <p:sp>
        <p:nvSpPr>
          <p:cNvPr id="9" name="Text 5"/>
          <p:cNvSpPr txBox="1"/>
          <p:nvPr/>
        </p:nvSpPr>
        <p:spPr>
          <a:xfrm>
            <a:off x="4315968" y="6263640"/>
            <a:ext cx="1943642"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Priya sees it in Toronto</a:t>
            </a:r>
            <a:endParaRPr lang="en-US" sz="1100" dirty="0"/>
          </a:p>
        </p:txBody>
      </p:sp>
      <p:sp>
        <p:nvSpPr>
          <p:cNvPr id="10" name="Shape 6"/>
          <p:cNvSpPr/>
          <p:nvPr/>
        </p:nvSpPr>
        <p:spPr>
          <a:xfrm>
            <a:off x="8019288" y="1856232"/>
            <a:ext cx="2071658" cy="4334256"/>
          </a:xfrm>
          <a:prstGeom prst="roundRect">
            <a:avLst>
              <a:gd name="adj" fmla="val 9710"/>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1" name="Image 2" descr="Kinnect app screen: sos">    </p:cNvPr>
          <p:cNvPicPr>
            <a:picLocks noChangeAspect="1"/>
          </p:cNvPicPr>
          <p:nvPr/>
        </p:nvPicPr>
        <p:blipFill>
          <a:blip r:embed="rId3"/>
          <a:stretch>
            <a:fillRect/>
          </a:stretch>
        </p:blipFill>
        <p:spPr>
          <a:xfrm>
            <a:off x="8083296" y="1920240"/>
            <a:ext cx="1943642" cy="4206240"/>
          </a:xfrm>
          <a:prstGeom prst="rect">
            <a:avLst/>
          </a:prstGeom>
        </p:spPr>
      </p:pic>
      <p:sp>
        <p:nvSpPr>
          <p:cNvPr id="12" name="Text 7"/>
          <p:cNvSpPr txBox="1"/>
          <p:nvPr/>
        </p:nvSpPr>
        <p:spPr>
          <a:xfrm>
            <a:off x="8083296" y="6263640"/>
            <a:ext cx="1943642"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SOS with location</a:t>
            </a:r>
            <a:endParaRPr lang="en-US" sz="1100" dirty="0"/>
          </a:p>
        </p:txBody>
      </p:sp>
      <p:pic>
        <p:nvPicPr>
          <p:cNvPr id="13" name="Image 3" descr="care icon">    </p:cNvPr>
          <p:cNvPicPr>
            <a:picLocks noChangeAspect="1"/>
          </p:cNvPicPr>
          <p:nvPr/>
        </p:nvPicPr>
        <p:blipFill>
          <a:blip r:embed="rId4"/>
          <a:stretch>
            <a:fillRect/>
          </a:stretch>
        </p:blipFill>
        <p:spPr>
          <a:xfrm>
            <a:off x="2766602" y="2011680"/>
            <a:ext cx="457200" cy="457200"/>
          </a:xfrm>
          <a:prstGeom prst="rect">
            <a:avLst/>
          </a:prstGeom>
        </p:spPr>
      </p:pic>
      <p:sp>
        <p:nvSpPr>
          <p:cNvPr id="14" name="Text 8"/>
          <p:cNvSpPr txBox="1"/>
          <p:nvPr/>
        </p:nvSpPr>
        <p:spPr>
          <a:xfrm>
            <a:off x="2766602" y="2606040"/>
            <a:ext cx="1417320"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Daily I'm OK</a:t>
            </a:r>
            <a:endParaRPr lang="en-US" sz="1500" dirty="0"/>
          </a:p>
        </p:txBody>
      </p:sp>
      <p:sp>
        <p:nvSpPr>
          <p:cNvPr id="15" name="Text 9"/>
          <p:cNvSpPr txBox="1"/>
          <p:nvPr/>
        </p:nvSpPr>
        <p:spPr>
          <a:xfrm>
            <a:off x="2766602" y="3200400"/>
            <a:ext cx="1417320" cy="164592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One tap each morning. Chosen family sees it.</a:t>
            </a:r>
            <a:endParaRPr lang="en-US" sz="1250" dirty="0"/>
          </a:p>
        </p:txBody>
      </p:sp>
      <p:pic>
        <p:nvPicPr>
          <p:cNvPr id="16" name="Image 4" descr="bell icon">    </p:cNvPr>
          <p:cNvPicPr>
            <a:picLocks noChangeAspect="1"/>
          </p:cNvPicPr>
          <p:nvPr/>
        </p:nvPicPr>
        <p:blipFill>
          <a:blip r:embed="rId5"/>
          <a:stretch>
            <a:fillRect/>
          </a:stretch>
        </p:blipFill>
        <p:spPr>
          <a:xfrm>
            <a:off x="6533930" y="2011680"/>
            <a:ext cx="457200" cy="457200"/>
          </a:xfrm>
          <a:prstGeom prst="rect">
            <a:avLst/>
          </a:prstGeom>
        </p:spPr>
      </p:pic>
      <p:sp>
        <p:nvSpPr>
          <p:cNvPr id="17" name="Text 10"/>
          <p:cNvSpPr txBox="1"/>
          <p:nvPr/>
        </p:nvSpPr>
        <p:spPr>
          <a:xfrm>
            <a:off x="6533930" y="2606040"/>
            <a:ext cx="1417320"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Medicine reminders</a:t>
            </a:r>
            <a:endParaRPr lang="en-US" sz="1500" dirty="0"/>
          </a:p>
        </p:txBody>
      </p:sp>
      <p:sp>
        <p:nvSpPr>
          <p:cNvPr id="18" name="Text 11"/>
          <p:cNvSpPr txBox="1"/>
          <p:nvPr/>
        </p:nvSpPr>
        <p:spPr>
          <a:xfrm>
            <a:off x="6533930" y="3200400"/>
            <a:ext cx="1417320" cy="164592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Reminders on the phone; the taken log is shared.</a:t>
            </a:r>
            <a:endParaRPr lang="en-US" sz="1250" dirty="0"/>
          </a:p>
        </p:txBody>
      </p:sp>
      <p:pic>
        <p:nvPicPr>
          <p:cNvPr id="19" name="Image 5" descr="sos icon">    </p:cNvPr>
          <p:cNvPicPr>
            <a:picLocks noChangeAspect="1"/>
          </p:cNvPicPr>
          <p:nvPr/>
        </p:nvPicPr>
        <p:blipFill>
          <a:blip r:embed="rId6"/>
          <a:stretch>
            <a:fillRect/>
          </a:stretch>
        </p:blipFill>
        <p:spPr>
          <a:xfrm>
            <a:off x="10301258" y="2011680"/>
            <a:ext cx="457200" cy="457200"/>
          </a:xfrm>
          <a:prstGeom prst="rect">
            <a:avLst/>
          </a:prstGeom>
        </p:spPr>
      </p:pic>
      <p:sp>
        <p:nvSpPr>
          <p:cNvPr id="20" name="Text 12"/>
          <p:cNvSpPr txBox="1"/>
          <p:nvPr/>
        </p:nvSpPr>
        <p:spPr>
          <a:xfrm>
            <a:off x="10301258" y="2606040"/>
            <a:ext cx="1417320"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SOS</a:t>
            </a:r>
            <a:endParaRPr lang="en-US" sz="1500" dirty="0"/>
          </a:p>
        </p:txBody>
      </p:sp>
      <p:sp>
        <p:nvSpPr>
          <p:cNvPr id="21" name="Text 13"/>
          <p:cNvSpPr txBox="1"/>
          <p:nvPr/>
        </p:nvSpPr>
        <p:spPr>
          <a:xfrm>
            <a:off x="10301258" y="3200400"/>
            <a:ext cx="1417320" cy="164592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Sends location to family and calls the first contact.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F6F8"/>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Built for grandparents</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Every screen was designed for the oldest person in the family, not the youngest.</a:t>
            </a:r>
            <a:endParaRPr lang="en-US" sz="1600" dirty="0"/>
          </a:p>
        </p:txBody>
      </p:sp>
      <p:sp>
        <p:nvSpPr>
          <p:cNvPr id="4" name="Shape 2"/>
          <p:cNvSpPr/>
          <p:nvPr/>
        </p:nvSpPr>
        <p:spPr>
          <a:xfrm>
            <a:off x="621792" y="1810512"/>
            <a:ext cx="2177290" cy="4562856"/>
          </a:xfrm>
          <a:prstGeom prst="roundRect">
            <a:avLst>
              <a:gd name="adj" fmla="val 9239"/>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5" name="Image 0" descr="Kinnect app screen: simple mode">    </p:cNvPr>
          <p:cNvPicPr>
            <a:picLocks noChangeAspect="1"/>
          </p:cNvPicPr>
          <p:nvPr/>
        </p:nvPicPr>
        <p:blipFill>
          <a:blip r:embed="rId1"/>
          <a:stretch>
            <a:fillRect/>
          </a:stretch>
        </p:blipFill>
        <p:spPr>
          <a:xfrm>
            <a:off x="685800" y="1874520"/>
            <a:ext cx="2049274" cy="4434840"/>
          </a:xfrm>
          <a:prstGeom prst="rect">
            <a:avLst/>
          </a:prstGeom>
        </p:spPr>
      </p:pic>
      <p:sp>
        <p:nvSpPr>
          <p:cNvPr id="6" name="Text 3"/>
          <p:cNvSpPr txBox="1"/>
          <p:nvPr/>
        </p:nvSpPr>
        <p:spPr>
          <a:xfrm>
            <a:off x="685800" y="6382512"/>
            <a:ext cx="2049274"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Simple mode</a:t>
            </a:r>
            <a:endParaRPr lang="en-US" sz="1100" dirty="0"/>
          </a:p>
        </p:txBody>
      </p:sp>
      <p:sp>
        <p:nvSpPr>
          <p:cNvPr id="7" name="Shape 4"/>
          <p:cNvSpPr/>
          <p:nvPr/>
        </p:nvSpPr>
        <p:spPr>
          <a:xfrm>
            <a:off x="3136392" y="1810512"/>
            <a:ext cx="2177290" cy="4562856"/>
          </a:xfrm>
          <a:prstGeom prst="roundRect">
            <a:avLst>
              <a:gd name="adj" fmla="val 9239"/>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8" name="Image 1" descr="Kinnect app screen: textsize">    </p:cNvPr>
          <p:cNvPicPr>
            <a:picLocks noChangeAspect="1"/>
          </p:cNvPicPr>
          <p:nvPr/>
        </p:nvPicPr>
        <p:blipFill>
          <a:blip r:embed="rId2"/>
          <a:stretch>
            <a:fillRect/>
          </a:stretch>
        </p:blipFill>
        <p:spPr>
          <a:xfrm>
            <a:off x="3200400" y="1874520"/>
            <a:ext cx="2049274" cy="4434840"/>
          </a:xfrm>
          <a:prstGeom prst="rect">
            <a:avLst/>
          </a:prstGeom>
        </p:spPr>
      </p:pic>
      <p:sp>
        <p:nvSpPr>
          <p:cNvPr id="9" name="Text 5"/>
          <p:cNvSpPr txBox="1"/>
          <p:nvPr/>
        </p:nvSpPr>
        <p:spPr>
          <a:xfrm>
            <a:off x="3200400" y="6382512"/>
            <a:ext cx="2049274"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Text size at sign-up</a:t>
            </a:r>
            <a:endParaRPr lang="en-US" sz="1100" dirty="0"/>
          </a:p>
        </p:txBody>
      </p:sp>
      <p:sp>
        <p:nvSpPr>
          <p:cNvPr id="10" name="Shape 6"/>
          <p:cNvSpPr/>
          <p:nvPr/>
        </p:nvSpPr>
        <p:spPr>
          <a:xfrm>
            <a:off x="5650992" y="1810512"/>
            <a:ext cx="2177290" cy="4562856"/>
          </a:xfrm>
          <a:prstGeom prst="roundRect">
            <a:avLst>
              <a:gd name="adj" fmla="val 9239"/>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1" name="Image 2" descr="Kinnect app screen: scam warning">    </p:cNvPr>
          <p:cNvPicPr>
            <a:picLocks noChangeAspect="1"/>
          </p:cNvPicPr>
          <p:nvPr/>
        </p:nvPicPr>
        <p:blipFill>
          <a:blip r:embed="rId3"/>
          <a:stretch>
            <a:fillRect/>
          </a:stretch>
        </p:blipFill>
        <p:spPr>
          <a:xfrm>
            <a:off x="5715000" y="1874520"/>
            <a:ext cx="2049274" cy="4434840"/>
          </a:xfrm>
          <a:prstGeom prst="rect">
            <a:avLst/>
          </a:prstGeom>
        </p:spPr>
      </p:pic>
      <p:sp>
        <p:nvSpPr>
          <p:cNvPr id="12" name="Text 7"/>
          <p:cNvSpPr txBox="1"/>
          <p:nvPr/>
        </p:nvSpPr>
        <p:spPr>
          <a:xfrm>
            <a:off x="5715000" y="6382512"/>
            <a:ext cx="2049274"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Scam warning</a:t>
            </a:r>
            <a:endParaRPr lang="en-US" sz="1100" dirty="0"/>
          </a:p>
        </p:txBody>
      </p:sp>
      <p:pic>
        <p:nvPicPr>
          <p:cNvPr id="13" name="Image 3" descr="elder icon">    </p:cNvPr>
          <p:cNvPicPr>
            <a:picLocks noChangeAspect="1"/>
          </p:cNvPicPr>
          <p:nvPr/>
        </p:nvPicPr>
        <p:blipFill>
          <a:blip r:embed="rId4"/>
          <a:stretch>
            <a:fillRect/>
          </a:stretch>
        </p:blipFill>
        <p:spPr>
          <a:xfrm>
            <a:off x="8183880" y="1920240"/>
            <a:ext cx="475488" cy="475488"/>
          </a:xfrm>
          <a:prstGeom prst="rect">
            <a:avLst/>
          </a:prstGeom>
        </p:spPr>
      </p:pic>
      <p:sp>
        <p:nvSpPr>
          <p:cNvPr id="14" name="Text 8"/>
          <p:cNvSpPr txBox="1"/>
          <p:nvPr/>
        </p:nvSpPr>
        <p:spPr>
          <a:xfrm>
            <a:off x="8842248" y="1883664"/>
            <a:ext cx="29992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Simple mode</a:t>
            </a:r>
            <a:endParaRPr lang="en-US" sz="1700" dirty="0"/>
          </a:p>
        </p:txBody>
      </p:sp>
      <p:sp>
        <p:nvSpPr>
          <p:cNvPr id="15" name="Text 9"/>
          <p:cNvSpPr txBox="1"/>
          <p:nvPr/>
        </p:nvSpPr>
        <p:spPr>
          <a:xfrm>
            <a:off x="8842248" y="2212848"/>
            <a:ext cx="29992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Big photos of favourite people. One tap to video call.</a:t>
            </a:r>
            <a:endParaRPr lang="en-US" sz="1350" dirty="0"/>
          </a:p>
        </p:txBody>
      </p:sp>
      <p:pic>
        <p:nvPicPr>
          <p:cNvPr id="16" name="Image 4" descr="chat icon">    </p:cNvPr>
          <p:cNvPicPr>
            <a:picLocks noChangeAspect="1"/>
          </p:cNvPicPr>
          <p:nvPr/>
        </p:nvPicPr>
        <p:blipFill>
          <a:blip r:embed="rId5"/>
          <a:stretch>
            <a:fillRect/>
          </a:stretch>
        </p:blipFill>
        <p:spPr>
          <a:xfrm>
            <a:off x="8183880" y="2999232"/>
            <a:ext cx="475488" cy="475488"/>
          </a:xfrm>
          <a:prstGeom prst="rect">
            <a:avLst/>
          </a:prstGeom>
        </p:spPr>
      </p:pic>
      <p:sp>
        <p:nvSpPr>
          <p:cNvPr id="17" name="Text 10"/>
          <p:cNvSpPr txBox="1"/>
          <p:nvPr/>
        </p:nvSpPr>
        <p:spPr>
          <a:xfrm>
            <a:off x="8842248" y="2962656"/>
            <a:ext cx="29992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Voice first</a:t>
            </a:r>
            <a:endParaRPr lang="en-US" sz="1700" dirty="0"/>
          </a:p>
        </p:txBody>
      </p:sp>
      <p:sp>
        <p:nvSpPr>
          <p:cNvPr id="18" name="Text 11"/>
          <p:cNvSpPr txBox="1"/>
          <p:nvPr/>
        </p:nvSpPr>
        <p:spPr>
          <a:xfrm>
            <a:off x="8842248" y="3291840"/>
            <a:ext cx="29992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Voice messages, read-aloud, Indian-language keyboard.</a:t>
            </a:r>
            <a:endParaRPr lang="en-US" sz="1350" dirty="0"/>
          </a:p>
        </p:txBody>
      </p:sp>
      <p:pic>
        <p:nvPicPr>
          <p:cNvPr id="19" name="Image 5" descr="globe icon">    </p:cNvPr>
          <p:cNvPicPr>
            <a:picLocks noChangeAspect="1"/>
          </p:cNvPicPr>
          <p:nvPr/>
        </p:nvPicPr>
        <p:blipFill>
          <a:blip r:embed="rId6"/>
          <a:stretch>
            <a:fillRect/>
          </a:stretch>
        </p:blipFill>
        <p:spPr>
          <a:xfrm>
            <a:off x="8183880" y="4078224"/>
            <a:ext cx="475488" cy="475488"/>
          </a:xfrm>
          <a:prstGeom prst="rect">
            <a:avLst/>
          </a:prstGeom>
        </p:spPr>
      </p:pic>
      <p:sp>
        <p:nvSpPr>
          <p:cNvPr id="20" name="Text 12"/>
          <p:cNvSpPr txBox="1"/>
          <p:nvPr/>
        </p:nvSpPr>
        <p:spPr>
          <a:xfrm>
            <a:off x="8842248" y="4041648"/>
            <a:ext cx="29992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Their language</a:t>
            </a:r>
            <a:endParaRPr lang="en-US" sz="1700" dirty="0"/>
          </a:p>
        </p:txBody>
      </p:sp>
      <p:sp>
        <p:nvSpPr>
          <p:cNvPr id="21" name="Text 13"/>
          <p:cNvSpPr txBox="1"/>
          <p:nvPr/>
        </p:nvSpPr>
        <p:spPr>
          <a:xfrm>
            <a:off x="8842248" y="4370832"/>
            <a:ext cx="29992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On-device translation: Hindi, Telugu, Tamil, Kannada and more.</a:t>
            </a:r>
            <a:endParaRPr lang="en-US" sz="1350" dirty="0"/>
          </a:p>
        </p:txBody>
      </p:sp>
      <p:pic>
        <p:nvPicPr>
          <p:cNvPr id="22" name="Image 6" descr="shield icon">    </p:cNvPr>
          <p:cNvPicPr>
            <a:picLocks noChangeAspect="1"/>
          </p:cNvPicPr>
          <p:nvPr/>
        </p:nvPicPr>
        <p:blipFill>
          <a:blip r:embed="rId7"/>
          <a:stretch>
            <a:fillRect/>
          </a:stretch>
        </p:blipFill>
        <p:spPr>
          <a:xfrm>
            <a:off x="8183880" y="5157216"/>
            <a:ext cx="475488" cy="475488"/>
          </a:xfrm>
          <a:prstGeom prst="rect">
            <a:avLst/>
          </a:prstGeom>
        </p:spPr>
      </p:pic>
      <p:sp>
        <p:nvSpPr>
          <p:cNvPr id="23" name="Text 14"/>
          <p:cNvSpPr txBox="1"/>
          <p:nvPr/>
        </p:nvSpPr>
        <p:spPr>
          <a:xfrm>
            <a:off x="8842248" y="5120640"/>
            <a:ext cx="29992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Scam protection</a:t>
            </a:r>
            <a:endParaRPr lang="en-US" sz="1700" dirty="0"/>
          </a:p>
        </p:txBody>
      </p:sp>
      <p:sp>
        <p:nvSpPr>
          <p:cNvPr id="24" name="Text 15"/>
          <p:cNvSpPr txBox="1"/>
          <p:nvPr/>
        </p:nvSpPr>
        <p:spPr>
          <a:xfrm>
            <a:off x="8842248" y="5449824"/>
            <a:ext cx="29992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Strangers asking for OTP or bank details trigger a warning.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12064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Time zones, handled</a:t>
            </a:r>
            <a:endParaRPr lang="en-US" sz="3400" dirty="0"/>
          </a:p>
        </p:txBody>
      </p:sp>
      <p:sp>
        <p:nvSpPr>
          <p:cNvPr id="3" name="Text 1"/>
          <p:cNvSpPr txBox="1"/>
          <p:nvPr/>
        </p:nvSpPr>
        <p:spPr>
          <a:xfrm>
            <a:off x="548640" y="1207008"/>
            <a:ext cx="512064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Nobody should need a world clock to call their mother.</a:t>
            </a:r>
            <a:endParaRPr lang="en-US" sz="1600" dirty="0"/>
          </a:p>
        </p:txBody>
      </p:sp>
      <p:pic>
        <p:nvPicPr>
          <p:cNvPr id="4" name="Image 0" descr="clock icon">    </p:cNvPr>
          <p:cNvPicPr>
            <a:picLocks noChangeAspect="1"/>
          </p:cNvPicPr>
          <p:nvPr/>
        </p:nvPicPr>
        <p:blipFill>
          <a:blip r:embed="rId1"/>
          <a:stretch>
            <a:fillRect/>
          </a:stretch>
        </p:blipFill>
        <p:spPr>
          <a:xfrm>
            <a:off x="548640" y="2286000"/>
            <a:ext cx="475488" cy="475488"/>
          </a:xfrm>
          <a:prstGeom prst="rect">
            <a:avLst/>
          </a:prstGeom>
        </p:spPr>
      </p:pic>
      <p:sp>
        <p:nvSpPr>
          <p:cNvPr id="5" name="Text 2"/>
          <p:cNvSpPr txBox="1"/>
          <p:nvPr/>
        </p:nvSpPr>
        <p:spPr>
          <a:xfrm>
            <a:off x="1207008" y="2249424"/>
            <a:ext cx="43708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Their time, right where you need it</a:t>
            </a:r>
            <a:endParaRPr lang="en-US" sz="1700" dirty="0"/>
          </a:p>
        </p:txBody>
      </p:sp>
      <p:sp>
        <p:nvSpPr>
          <p:cNvPr id="6" name="Text 3"/>
          <p:cNvSpPr txBox="1"/>
          <p:nvPr/>
        </p:nvSpPr>
        <p:spPr>
          <a:xfrm>
            <a:off x="1207008" y="2578608"/>
            <a:ext cx="43708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Shown next to their name in chats and calls.</a:t>
            </a:r>
            <a:endParaRPr lang="en-US" sz="1350" dirty="0"/>
          </a:p>
        </p:txBody>
      </p:sp>
      <p:pic>
        <p:nvPicPr>
          <p:cNvPr id="7" name="Image 1" descr="alert icon">    </p:cNvPr>
          <p:cNvPicPr>
            <a:picLocks noChangeAspect="1"/>
          </p:cNvPicPr>
          <p:nvPr/>
        </p:nvPicPr>
        <p:blipFill>
          <a:blip r:embed="rId2"/>
          <a:stretch>
            <a:fillRect/>
          </a:stretch>
        </p:blipFill>
        <p:spPr>
          <a:xfrm>
            <a:off x="548640" y="3383280"/>
            <a:ext cx="475488" cy="475488"/>
          </a:xfrm>
          <a:prstGeom prst="rect">
            <a:avLst/>
          </a:prstGeom>
        </p:spPr>
      </p:pic>
      <p:sp>
        <p:nvSpPr>
          <p:cNvPr id="8" name="Text 4"/>
          <p:cNvSpPr txBox="1"/>
          <p:nvPr/>
        </p:nvSpPr>
        <p:spPr>
          <a:xfrm>
            <a:off x="1207008" y="3346704"/>
            <a:ext cx="43708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Late-night check</a:t>
            </a:r>
            <a:endParaRPr lang="en-US" sz="1700" dirty="0"/>
          </a:p>
        </p:txBody>
      </p:sp>
      <p:sp>
        <p:nvSpPr>
          <p:cNvPr id="9" name="Text 5"/>
          <p:cNvSpPr txBox="1"/>
          <p:nvPr/>
        </p:nvSpPr>
        <p:spPr>
          <a:xfrm>
            <a:off x="1207008" y="3675888"/>
            <a:ext cx="43708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"It's 1:25 AM for Priya in Toronto" before the phone rings.</a:t>
            </a:r>
            <a:endParaRPr lang="en-US" sz="1350" dirty="0"/>
          </a:p>
        </p:txBody>
      </p:sp>
      <p:pic>
        <p:nvPicPr>
          <p:cNvPr id="10" name="Image 2" descr="users icon">    </p:cNvPr>
          <p:cNvPicPr>
            <a:picLocks noChangeAspect="1"/>
          </p:cNvPicPr>
          <p:nvPr/>
        </p:nvPicPr>
        <p:blipFill>
          <a:blip r:embed="rId3"/>
          <a:stretch>
            <a:fillRect/>
          </a:stretch>
        </p:blipFill>
        <p:spPr>
          <a:xfrm>
            <a:off x="548640" y="4480560"/>
            <a:ext cx="475488" cy="475488"/>
          </a:xfrm>
          <a:prstGeom prst="rect">
            <a:avLst/>
          </a:prstGeom>
        </p:spPr>
      </p:pic>
      <p:sp>
        <p:nvSpPr>
          <p:cNvPr id="11" name="Text 6"/>
          <p:cNvSpPr txBox="1"/>
          <p:nvPr/>
        </p:nvSpPr>
        <p:spPr>
          <a:xfrm>
            <a:off x="1207008" y="4443984"/>
            <a:ext cx="437083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Scheduled family calls</a:t>
            </a:r>
            <a:endParaRPr lang="en-US" sz="1700" dirty="0"/>
          </a:p>
        </p:txBody>
      </p:sp>
      <p:sp>
        <p:nvSpPr>
          <p:cNvPr id="12" name="Text 7"/>
          <p:cNvSpPr txBox="1"/>
          <p:nvPr/>
        </p:nvSpPr>
        <p:spPr>
          <a:xfrm>
            <a:off x="1207008" y="4773168"/>
            <a:ext cx="437083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Everyone is reminded in their own time; best hour suggested.</a:t>
            </a:r>
            <a:endParaRPr lang="en-US" sz="1350" dirty="0"/>
          </a:p>
        </p:txBody>
      </p:sp>
      <p:sp>
        <p:nvSpPr>
          <p:cNvPr id="13" name="Shape 8"/>
          <p:cNvSpPr/>
          <p:nvPr/>
        </p:nvSpPr>
        <p:spPr>
          <a:xfrm>
            <a:off x="592531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4" name="Image 3" descr="Kinnect app screen: late night">    </p:cNvPr>
          <p:cNvPicPr>
            <a:picLocks noChangeAspect="1"/>
          </p:cNvPicPr>
          <p:nvPr/>
        </p:nvPicPr>
        <p:blipFill>
          <a:blip r:embed="rId4"/>
          <a:stretch>
            <a:fillRect/>
          </a:stretch>
        </p:blipFill>
        <p:spPr>
          <a:xfrm>
            <a:off x="5989320" y="1143000"/>
            <a:ext cx="2239413" cy="4846320"/>
          </a:xfrm>
          <a:prstGeom prst="rect">
            <a:avLst/>
          </a:prstGeom>
        </p:spPr>
      </p:pic>
      <p:sp>
        <p:nvSpPr>
          <p:cNvPr id="15" name="Shape 9"/>
          <p:cNvSpPr/>
          <p:nvPr/>
        </p:nvSpPr>
        <p:spPr>
          <a:xfrm>
            <a:off x="839419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6" name="Image 4" descr="Kinnect app screen: schedule best time">    </p:cNvPr>
          <p:cNvPicPr>
            <a:picLocks noChangeAspect="1"/>
          </p:cNvPicPr>
          <p:nvPr/>
        </p:nvPicPr>
        <p:blipFill>
          <a:blip r:embed="rId5"/>
          <a:stretch>
            <a:fillRect/>
          </a:stretch>
        </p:blipFill>
        <p:spPr>
          <a:xfrm>
            <a:off x="8458200" y="1143000"/>
            <a:ext cx="2239413" cy="4846320"/>
          </a:xfrm>
          <a:prstGeom prst="rect">
            <a:avLst/>
          </a:prstGeom>
        </p:spPr>
      </p:pic>
      <p:sp>
        <p:nvSpPr>
          <p:cNvPr id="17" name="Text 10"/>
          <p:cNvSpPr txBox="1"/>
          <p:nvPr/>
        </p:nvSpPr>
        <p:spPr>
          <a:xfrm>
            <a:off x="598932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Late-night check</a:t>
            </a:r>
            <a:endParaRPr lang="en-US" sz="1100" dirty="0"/>
          </a:p>
        </p:txBody>
      </p:sp>
      <p:sp>
        <p:nvSpPr>
          <p:cNvPr id="18" name="Text 11"/>
          <p:cNvSpPr txBox="1"/>
          <p:nvPr/>
        </p:nvSpPr>
        <p:spPr>
          <a:xfrm>
            <a:off x="845820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Best time for everyone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FC"/>
        </a:solidFill>
      </p:bgPr>
    </p:bg>
    <p:spTree>
      <p:nvGrpSpPr>
        <p:cNvPr id="1" name=""/>
        <p:cNvGrpSpPr/>
        <p:nvPr/>
      </p:nvGrpSpPr>
      <p:grpSpPr>
        <a:xfrm>
          <a:off x="0" y="0"/>
          <a:ext cx="0" cy="0"/>
          <a:chOff x="0" y="0"/>
          <a:chExt cx="0" cy="0"/>
        </a:xfrm>
      </p:grpSpPr>
      <p:sp>
        <p:nvSpPr>
          <p:cNvPr id="2" name="Text 0"/>
          <p:cNvSpPr txBox="1"/>
          <p:nvPr/>
        </p:nvSpPr>
        <p:spPr>
          <a:xfrm>
            <a:off x="548640" y="411480"/>
            <a:ext cx="530352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Family memories</a:t>
            </a:r>
            <a:endParaRPr lang="en-US" sz="3400" dirty="0"/>
          </a:p>
        </p:txBody>
      </p:sp>
      <p:sp>
        <p:nvSpPr>
          <p:cNvPr id="3" name="Text 1"/>
          <p:cNvSpPr txBox="1"/>
          <p:nvPr/>
        </p:nvSpPr>
        <p:spPr>
          <a:xfrm>
            <a:off x="548640" y="1207008"/>
            <a:ext cx="530352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Voices, stories and relationships that outlast any single chat.</a:t>
            </a:r>
            <a:endParaRPr lang="en-US" sz="1600" dirty="0"/>
          </a:p>
        </p:txBody>
      </p:sp>
      <p:pic>
        <p:nvPicPr>
          <p:cNvPr id="4" name="Image 0" descr="story icon">    </p:cNvPr>
          <p:cNvPicPr>
            <a:picLocks noChangeAspect="1"/>
          </p:cNvPicPr>
          <p:nvPr/>
        </p:nvPicPr>
        <p:blipFill>
          <a:blip r:embed="rId1"/>
          <a:stretch>
            <a:fillRect/>
          </a:stretch>
        </p:blipFill>
        <p:spPr>
          <a:xfrm>
            <a:off x="548640" y="2286000"/>
            <a:ext cx="475488" cy="475488"/>
          </a:xfrm>
          <a:prstGeom prst="rect">
            <a:avLst/>
          </a:prstGeom>
        </p:spPr>
      </p:pic>
      <p:sp>
        <p:nvSpPr>
          <p:cNvPr id="5" name="Text 2"/>
          <p:cNvSpPr txBox="1"/>
          <p:nvPr/>
        </p:nvSpPr>
        <p:spPr>
          <a:xfrm>
            <a:off x="1207008" y="224942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Story library</a:t>
            </a:r>
            <a:endParaRPr lang="en-US" sz="1700" dirty="0"/>
          </a:p>
        </p:txBody>
      </p:sp>
      <p:sp>
        <p:nvSpPr>
          <p:cNvPr id="6" name="Text 3"/>
          <p:cNvSpPr txBox="1"/>
          <p:nvPr/>
        </p:nvSpPr>
        <p:spPr>
          <a:xfrm>
            <a:off x="1207008" y="257860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Recorded bedtime stories and memory answers ("How did you meet grandpa?").</a:t>
            </a:r>
            <a:endParaRPr lang="en-US" sz="1350" dirty="0"/>
          </a:p>
        </p:txBody>
      </p:sp>
      <p:pic>
        <p:nvPicPr>
          <p:cNvPr id="7" name="Image 1" descr="tree icon">    </p:cNvPr>
          <p:cNvPicPr>
            <a:picLocks noChangeAspect="1"/>
          </p:cNvPicPr>
          <p:nvPr/>
        </p:nvPicPr>
        <p:blipFill>
          <a:blip r:embed="rId2"/>
          <a:stretch>
            <a:fillRect/>
          </a:stretch>
        </p:blipFill>
        <p:spPr>
          <a:xfrm>
            <a:off x="548640" y="3383280"/>
            <a:ext cx="475488" cy="475488"/>
          </a:xfrm>
          <a:prstGeom prst="rect">
            <a:avLst/>
          </a:prstGeom>
        </p:spPr>
      </p:pic>
      <p:sp>
        <p:nvSpPr>
          <p:cNvPr id="8" name="Text 4"/>
          <p:cNvSpPr txBox="1"/>
          <p:nvPr/>
        </p:nvSpPr>
        <p:spPr>
          <a:xfrm>
            <a:off x="1207008" y="334670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Family tree in our languages</a:t>
            </a:r>
            <a:endParaRPr lang="en-US" sz="1700" dirty="0"/>
          </a:p>
        </p:txBody>
      </p:sp>
      <p:sp>
        <p:nvSpPr>
          <p:cNvPr id="9" name="Text 5"/>
          <p:cNvSpPr txBox="1"/>
          <p:nvPr/>
        </p:nvSpPr>
        <p:spPr>
          <a:xfrm>
            <a:off x="1207008" y="367588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Nirmala UI" pitchFamily="34" charset="0"/>
                <a:ea typeface="Nirmala UI" pitchFamily="34" charset="-122"/>
                <a:cs typeface="Nirmala UI" pitchFamily="34" charset="-120"/>
              </a:rPr>
              <a:t>दादी · నానమ్మ</a:t>
            </a:r>
            <a:pPr indent="0" marL="0">
              <a:buNone/>
            </a:pPr>
            <a:r>
              <a:rPr lang="en-US" sz="1350" dirty="0">
                <a:solidFill>
                  <a:srgbClr val="5B6B7F"/>
                </a:solidFill>
                <a:latin typeface="Calibri" pitchFamily="34" charset="0"/>
                <a:ea typeface="Calibri" pitchFamily="34" charset="-122"/>
                <a:cs typeface="Calibri" pitchFamily="34" charset="-120"/>
              </a:rPr>
              <a:t> — children learn what to call every relative.</a:t>
            </a:r>
            <a:endParaRPr lang="en-US" sz="1350" dirty="0"/>
          </a:p>
        </p:txBody>
      </p:sp>
      <p:pic>
        <p:nvPicPr>
          <p:cNvPr id="10" name="Image 2" descr="users icon">    </p:cNvPr>
          <p:cNvPicPr>
            <a:picLocks noChangeAspect="1"/>
          </p:cNvPicPr>
          <p:nvPr/>
        </p:nvPicPr>
        <p:blipFill>
          <a:blip r:embed="rId3"/>
          <a:stretch>
            <a:fillRect/>
          </a:stretch>
        </p:blipFill>
        <p:spPr>
          <a:xfrm>
            <a:off x="548640" y="4480560"/>
            <a:ext cx="475488" cy="475488"/>
          </a:xfrm>
          <a:prstGeom prst="rect">
            <a:avLst/>
          </a:prstGeom>
        </p:spPr>
      </p:pic>
      <p:sp>
        <p:nvSpPr>
          <p:cNvPr id="11" name="Text 6"/>
          <p:cNvSpPr txBox="1"/>
          <p:nvPr/>
        </p:nvSpPr>
        <p:spPr>
          <a:xfrm>
            <a:off x="1207008" y="4443984"/>
            <a:ext cx="446227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Photos, birthdays, anniversaries</a:t>
            </a:r>
            <a:endParaRPr lang="en-US" sz="1700" dirty="0"/>
          </a:p>
        </p:txBody>
      </p:sp>
      <p:sp>
        <p:nvSpPr>
          <p:cNvPr id="12" name="Text 7"/>
          <p:cNvSpPr txBox="1"/>
          <p:nvPr/>
        </p:nvSpPr>
        <p:spPr>
          <a:xfrm>
            <a:off x="1207008" y="4773168"/>
            <a:ext cx="446227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Shared album with "On this day", reminders on the day.</a:t>
            </a:r>
            <a:endParaRPr lang="en-US" sz="1350" dirty="0"/>
          </a:p>
        </p:txBody>
      </p:sp>
      <p:sp>
        <p:nvSpPr>
          <p:cNvPr id="13" name="Shape 8"/>
          <p:cNvSpPr/>
          <p:nvPr/>
        </p:nvSpPr>
        <p:spPr>
          <a:xfrm>
            <a:off x="601675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4" name="Image 3" descr="Kinnect app screen: story library">    </p:cNvPr>
          <p:cNvPicPr>
            <a:picLocks noChangeAspect="1"/>
          </p:cNvPicPr>
          <p:nvPr/>
        </p:nvPicPr>
        <p:blipFill>
          <a:blip r:embed="rId4"/>
          <a:stretch>
            <a:fillRect/>
          </a:stretch>
        </p:blipFill>
        <p:spPr>
          <a:xfrm>
            <a:off x="6080760" y="1143000"/>
            <a:ext cx="2239413" cy="4846320"/>
          </a:xfrm>
          <a:prstGeom prst="rect">
            <a:avLst/>
          </a:prstGeom>
        </p:spPr>
      </p:pic>
      <p:sp>
        <p:nvSpPr>
          <p:cNvPr id="15" name="Shape 9"/>
          <p:cNvSpPr/>
          <p:nvPr/>
        </p:nvSpPr>
        <p:spPr>
          <a:xfrm>
            <a:off x="8485632" y="1078992"/>
            <a:ext cx="2367429" cy="4974336"/>
          </a:xfrm>
          <a:prstGeom prst="roundRect">
            <a:avLst>
              <a:gd name="adj" fmla="val 8497"/>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6" name="Image 4" descr="Kinnect app screen: family tree">    </p:cNvPr>
          <p:cNvPicPr>
            <a:picLocks noChangeAspect="1"/>
          </p:cNvPicPr>
          <p:nvPr/>
        </p:nvPicPr>
        <p:blipFill>
          <a:blip r:embed="rId5"/>
          <a:stretch>
            <a:fillRect/>
          </a:stretch>
        </p:blipFill>
        <p:spPr>
          <a:xfrm>
            <a:off x="8549640" y="1143000"/>
            <a:ext cx="2239413" cy="4846320"/>
          </a:xfrm>
          <a:prstGeom prst="rect">
            <a:avLst/>
          </a:prstGeom>
        </p:spPr>
      </p:pic>
      <p:sp>
        <p:nvSpPr>
          <p:cNvPr id="17" name="Text 10"/>
          <p:cNvSpPr txBox="1"/>
          <p:nvPr/>
        </p:nvSpPr>
        <p:spPr>
          <a:xfrm>
            <a:off x="608076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Story library</a:t>
            </a:r>
            <a:endParaRPr lang="en-US" sz="1100" dirty="0"/>
          </a:p>
        </p:txBody>
      </p:sp>
      <p:sp>
        <p:nvSpPr>
          <p:cNvPr id="18" name="Text 11"/>
          <p:cNvSpPr txBox="1"/>
          <p:nvPr/>
        </p:nvSpPr>
        <p:spPr>
          <a:xfrm>
            <a:off x="8549640" y="6144768"/>
            <a:ext cx="2239413"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Family tree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Everything families expect from a chat app</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So nobody has to keep a second app for everyday messaging.</a:t>
            </a:r>
            <a:endParaRPr lang="en-US" sz="1600" dirty="0"/>
          </a:p>
        </p:txBody>
      </p:sp>
      <p:sp>
        <p:nvSpPr>
          <p:cNvPr id="4" name="Shape 2"/>
          <p:cNvSpPr/>
          <p:nvPr/>
        </p:nvSpPr>
        <p:spPr>
          <a:xfrm>
            <a:off x="621792" y="1856232"/>
            <a:ext cx="2135037" cy="4471416"/>
          </a:xfrm>
          <a:prstGeom prst="roundRect">
            <a:avLst>
              <a:gd name="adj" fmla="val 9422"/>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5" name="Image 0" descr="Kinnect app screen: group chat">    </p:cNvPr>
          <p:cNvPicPr>
            <a:picLocks noChangeAspect="1"/>
          </p:cNvPicPr>
          <p:nvPr/>
        </p:nvPicPr>
        <p:blipFill>
          <a:blip r:embed="rId1"/>
          <a:stretch>
            <a:fillRect/>
          </a:stretch>
        </p:blipFill>
        <p:spPr>
          <a:xfrm>
            <a:off x="685800" y="1920240"/>
            <a:ext cx="2007021" cy="4343400"/>
          </a:xfrm>
          <a:prstGeom prst="rect">
            <a:avLst/>
          </a:prstGeom>
        </p:spPr>
      </p:pic>
      <p:sp>
        <p:nvSpPr>
          <p:cNvPr id="6" name="Text 3"/>
          <p:cNvSpPr txBox="1"/>
          <p:nvPr/>
        </p:nvSpPr>
        <p:spPr>
          <a:xfrm>
            <a:off x="685800" y="6355080"/>
            <a:ext cx="2007021"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Group chat</a:t>
            </a:r>
            <a:endParaRPr lang="en-US" sz="1100" dirty="0"/>
          </a:p>
        </p:txBody>
      </p:sp>
      <p:sp>
        <p:nvSpPr>
          <p:cNvPr id="7" name="Shape 4"/>
          <p:cNvSpPr/>
          <p:nvPr/>
        </p:nvSpPr>
        <p:spPr>
          <a:xfrm>
            <a:off x="3136392" y="1856232"/>
            <a:ext cx="2135037" cy="4471416"/>
          </a:xfrm>
          <a:prstGeom prst="roundRect">
            <a:avLst>
              <a:gd name="adj" fmla="val 9422"/>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8" name="Image 1" descr="Kinnect app screen: poll">    </p:cNvPr>
          <p:cNvPicPr>
            <a:picLocks noChangeAspect="1"/>
          </p:cNvPicPr>
          <p:nvPr/>
        </p:nvPicPr>
        <p:blipFill>
          <a:blip r:embed="rId2"/>
          <a:stretch>
            <a:fillRect/>
          </a:stretch>
        </p:blipFill>
        <p:spPr>
          <a:xfrm>
            <a:off x="3200400" y="1920240"/>
            <a:ext cx="2007021" cy="4343400"/>
          </a:xfrm>
          <a:prstGeom prst="rect">
            <a:avLst/>
          </a:prstGeom>
        </p:spPr>
      </p:pic>
      <p:sp>
        <p:nvSpPr>
          <p:cNvPr id="9" name="Text 5"/>
          <p:cNvSpPr txBox="1"/>
          <p:nvPr/>
        </p:nvSpPr>
        <p:spPr>
          <a:xfrm>
            <a:off x="3200400" y="6355080"/>
            <a:ext cx="2007021"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Polls &amp; lists</a:t>
            </a:r>
            <a:endParaRPr lang="en-US" sz="1100" dirty="0"/>
          </a:p>
        </p:txBody>
      </p:sp>
      <p:sp>
        <p:nvSpPr>
          <p:cNvPr id="10" name="Shape 6"/>
          <p:cNvSpPr/>
          <p:nvPr/>
        </p:nvSpPr>
        <p:spPr>
          <a:xfrm>
            <a:off x="5650992" y="1856232"/>
            <a:ext cx="2135037" cy="4471416"/>
          </a:xfrm>
          <a:prstGeom prst="roundRect">
            <a:avLst>
              <a:gd name="adj" fmla="val 9422"/>
            </a:avLst>
          </a:prstGeom>
          <a:solidFill>
            <a:srgbClr val="0F172A"/>
          </a:solidFill>
          <a:ln w="12700">
            <a:solidFill>
              <a:srgbClr val="0F172A"/>
            </a:solidFill>
            <a:prstDash val="solid"/>
          </a:ln>
          <a:effectLst>
            <a:outerShdw sx="100000" sy="100000" kx="0" ky="0" algn="bl" rotWithShape="0" blurRad="152400" dist="50800" dir="5400000">
              <a:srgbClr val="000000">
                <a:alpha val="28000"/>
              </a:srgbClr>
            </a:outerShdw>
          </a:effectLst>
        </p:spPr>
      </p:sp>
      <p:pic>
        <p:nvPicPr>
          <p:cNvPr id="11" name="Image 2" descr="Kinnect app screen: group call">    </p:cNvPr>
          <p:cNvPicPr>
            <a:picLocks noChangeAspect="1"/>
          </p:cNvPicPr>
          <p:nvPr/>
        </p:nvPicPr>
        <p:blipFill>
          <a:blip r:embed="rId3"/>
          <a:stretch>
            <a:fillRect/>
          </a:stretch>
        </p:blipFill>
        <p:spPr>
          <a:xfrm>
            <a:off x="5715000" y="1920240"/>
            <a:ext cx="2007021" cy="4343400"/>
          </a:xfrm>
          <a:prstGeom prst="rect">
            <a:avLst/>
          </a:prstGeom>
        </p:spPr>
      </p:pic>
      <p:sp>
        <p:nvSpPr>
          <p:cNvPr id="12" name="Text 7"/>
          <p:cNvSpPr txBox="1"/>
          <p:nvPr/>
        </p:nvSpPr>
        <p:spPr>
          <a:xfrm>
            <a:off x="5715000" y="6355080"/>
            <a:ext cx="2007021" cy="27432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Group video call</a:t>
            </a:r>
            <a:endParaRPr lang="en-US" sz="1100" dirty="0"/>
          </a:p>
        </p:txBody>
      </p:sp>
      <p:sp>
        <p:nvSpPr>
          <p:cNvPr id="13" name="Text 8"/>
          <p:cNvSpPr txBox="1"/>
          <p:nvPr/>
        </p:nvSpPr>
        <p:spPr>
          <a:xfrm>
            <a:off x="8183880" y="1965960"/>
            <a:ext cx="3657600" cy="42976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Chats, groups, photos, voice messages</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Replies, reactions, delete for everyone</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Typing, online and last seen (optional)</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Group video calls for up to 4</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Polls, shared lists, live location</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Find family from your contacts or by QR</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Encrypted backup to move to a new phone</a:t>
            </a:r>
            <a:endParaRPr lang="en-US" sz="1500" dirty="0"/>
          </a:p>
          <a:p>
            <a:pPr marL="342900" indent="-342900">
              <a:spcAft>
                <a:spcPts val="900"/>
              </a:spcAft>
              <a:buSzPct val="100000"/>
              <a:buChar char="•"/>
            </a:pPr>
            <a:r>
              <a:rPr lang="en-US" sz="1500" dirty="0">
                <a:solidFill>
                  <a:srgbClr val="1E293B"/>
                </a:solidFill>
                <a:latin typeface="Calibri" pitchFamily="34" charset="0"/>
                <a:ea typeface="Calibri" pitchFamily="34" charset="-122"/>
                <a:cs typeface="Calibri" pitchFamily="34" charset="-120"/>
              </a:rPr>
              <a:t>Dark theme and save-data mode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30"/>
        </a:solidFill>
      </p:bgPr>
    </p:bg>
    <p:spTree>
      <p:nvGrpSpPr>
        <p:cNvPr id="1" name=""/>
        <p:cNvGrpSpPr/>
        <p:nvPr/>
      </p:nvGrpSpPr>
      <p:grpSpPr>
        <a:xfrm>
          <a:off x="0" y="0"/>
          <a:ext cx="0" cy="0"/>
          <a:chOff x="0" y="0"/>
          <a:chExt cx="0" cy="0"/>
        </a:xfrm>
      </p:grpSpPr>
      <p:sp>
        <p:nvSpPr>
          <p:cNvPr id="2" name="Text 0"/>
          <p:cNvSpPr txBox="1"/>
          <p:nvPr/>
        </p:nvSpPr>
        <p:spPr>
          <a:xfrm>
            <a:off x="548640" y="411480"/>
            <a:ext cx="621792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Private by design</a:t>
            </a:r>
            <a:endParaRPr lang="en-US" sz="3400" dirty="0"/>
          </a:p>
        </p:txBody>
      </p:sp>
      <p:sp>
        <p:nvSpPr>
          <p:cNvPr id="3" name="Text 1"/>
          <p:cNvSpPr txBox="1"/>
          <p:nvPr/>
        </p:nvSpPr>
        <p:spPr>
          <a:xfrm>
            <a:off x="548640" y="1207008"/>
            <a:ext cx="6217920" cy="548640"/>
          </a:xfrm>
          <a:prstGeom prst="rect">
            <a:avLst/>
          </a:prstGeom>
          <a:noFill/>
          <a:ln/>
        </p:spPr>
        <p:txBody>
          <a:bodyPr wrap="square" lIns="0" tIns="0" rIns="0" bIns="0" rtlCol="0" anchor="t"/>
          <a:lstStyle/>
          <a:p>
            <a:pPr indent="0" marL="0">
              <a:buNone/>
            </a:pPr>
            <a:r>
              <a:rPr lang="en-US" sz="1600" dirty="0">
                <a:solidFill>
                  <a:srgbClr val="B8D8DE"/>
                </a:solidFill>
                <a:latin typeface="Calibri" pitchFamily="34" charset="0"/>
                <a:ea typeface="Calibri" pitchFamily="34" charset="-122"/>
                <a:cs typeface="Calibri" pitchFamily="34" charset="-120"/>
              </a:rPr>
              <a:t>Family conversations belong to the family.</a:t>
            </a:r>
            <a:endParaRPr lang="en-US" sz="1600" dirty="0"/>
          </a:p>
        </p:txBody>
      </p:sp>
      <p:pic>
        <p:nvPicPr>
          <p:cNvPr id="4" name="Image 0" descr="lock icon">    </p:cNvPr>
          <p:cNvPicPr>
            <a:picLocks noChangeAspect="1"/>
          </p:cNvPicPr>
          <p:nvPr/>
        </p:nvPicPr>
        <p:blipFill>
          <a:blip r:embed="rId1"/>
          <a:stretch>
            <a:fillRect/>
          </a:stretch>
        </p:blipFill>
        <p:spPr>
          <a:xfrm>
            <a:off x="594360" y="2148840"/>
            <a:ext cx="475488" cy="475488"/>
          </a:xfrm>
          <a:prstGeom prst="rect">
            <a:avLst/>
          </a:prstGeom>
        </p:spPr>
      </p:pic>
      <p:sp>
        <p:nvSpPr>
          <p:cNvPr id="5" name="Text 2"/>
          <p:cNvSpPr txBox="1"/>
          <p:nvPr/>
        </p:nvSpPr>
        <p:spPr>
          <a:xfrm>
            <a:off x="1252728" y="2112264"/>
            <a:ext cx="512064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End-to-end encrypted</a:t>
            </a:r>
            <a:endParaRPr lang="en-US" sz="1700" dirty="0"/>
          </a:p>
        </p:txBody>
      </p:sp>
      <p:sp>
        <p:nvSpPr>
          <p:cNvPr id="6" name="Text 3"/>
          <p:cNvSpPr txBox="1"/>
          <p:nvPr/>
        </p:nvSpPr>
        <p:spPr>
          <a:xfrm>
            <a:off x="1252728" y="2441448"/>
            <a:ext cx="5120640" cy="640080"/>
          </a:xfrm>
          <a:prstGeom prst="rect">
            <a:avLst/>
          </a:prstGeom>
          <a:noFill/>
          <a:ln/>
        </p:spPr>
        <p:txBody>
          <a:bodyPr wrap="square" lIns="0" tIns="0" rIns="0" bIns="0" rtlCol="0" anchor="t"/>
          <a:lstStyle/>
          <a:p>
            <a:pPr indent="0" marL="0">
              <a:buNone/>
            </a:pPr>
            <a:r>
              <a:rPr lang="en-US" sz="1350" dirty="0">
                <a:solidFill>
                  <a:srgbClr val="B8D8DE"/>
                </a:solidFill>
                <a:latin typeface="Calibri" pitchFamily="34" charset="0"/>
                <a:ea typeface="Calibri" pitchFamily="34" charset="-122"/>
                <a:cs typeface="Calibri" pitchFamily="34" charset="-120"/>
              </a:rPr>
              <a:t>Messages, photos, group chats and call set-up are encrypted on the phone. The relay only sees scrambled data.</a:t>
            </a:r>
            <a:endParaRPr lang="en-US" sz="1350" dirty="0"/>
          </a:p>
        </p:txBody>
      </p:sp>
      <p:pic>
        <p:nvPicPr>
          <p:cNvPr id="7" name="Image 1" descr="shield icon">    </p:cNvPr>
          <p:cNvPicPr>
            <a:picLocks noChangeAspect="1"/>
          </p:cNvPicPr>
          <p:nvPr/>
        </p:nvPicPr>
        <p:blipFill>
          <a:blip r:embed="rId2"/>
          <a:stretch>
            <a:fillRect/>
          </a:stretch>
        </p:blipFill>
        <p:spPr>
          <a:xfrm>
            <a:off x="594360" y="3172968"/>
            <a:ext cx="475488" cy="475488"/>
          </a:xfrm>
          <a:prstGeom prst="rect">
            <a:avLst/>
          </a:prstGeom>
        </p:spPr>
      </p:pic>
      <p:sp>
        <p:nvSpPr>
          <p:cNvPr id="8" name="Text 4"/>
          <p:cNvSpPr txBox="1"/>
          <p:nvPr/>
        </p:nvSpPr>
        <p:spPr>
          <a:xfrm>
            <a:off x="1252728" y="3136392"/>
            <a:ext cx="512064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Contacts stay on your phone</a:t>
            </a:r>
            <a:endParaRPr lang="en-US" sz="1700" dirty="0"/>
          </a:p>
        </p:txBody>
      </p:sp>
      <p:sp>
        <p:nvSpPr>
          <p:cNvPr id="9" name="Text 5"/>
          <p:cNvSpPr txBox="1"/>
          <p:nvPr/>
        </p:nvSpPr>
        <p:spPr>
          <a:xfrm>
            <a:off x="1252728" y="3465576"/>
            <a:ext cx="5120640" cy="640080"/>
          </a:xfrm>
          <a:prstGeom prst="rect">
            <a:avLst/>
          </a:prstGeom>
          <a:noFill/>
          <a:ln/>
        </p:spPr>
        <p:txBody>
          <a:bodyPr wrap="square" lIns="0" tIns="0" rIns="0" bIns="0" rtlCol="0" anchor="t"/>
          <a:lstStyle/>
          <a:p>
            <a:pPr indent="0" marL="0">
              <a:buNone/>
            </a:pPr>
            <a:r>
              <a:rPr lang="en-US" sz="1350" dirty="0">
                <a:solidFill>
                  <a:srgbClr val="B8D8DE"/>
                </a:solidFill>
                <a:latin typeface="Calibri" pitchFamily="34" charset="0"/>
                <a:ea typeface="Calibri" pitchFamily="34" charset="-122"/>
                <a:cs typeface="Calibri" pitchFamily="34" charset="-120"/>
              </a:rPr>
              <a:t>Numbers are turned into one-way codes on the phone to find family. Nothing is uploaded.</a:t>
            </a:r>
            <a:endParaRPr lang="en-US" sz="1350" dirty="0"/>
          </a:p>
        </p:txBody>
      </p:sp>
      <p:pic>
        <p:nvPicPr>
          <p:cNvPr id="10" name="Image 2" descr="check icon">    </p:cNvPr>
          <p:cNvPicPr>
            <a:picLocks noChangeAspect="1"/>
          </p:cNvPicPr>
          <p:nvPr/>
        </p:nvPicPr>
        <p:blipFill>
          <a:blip r:embed="rId3"/>
          <a:stretch>
            <a:fillRect/>
          </a:stretch>
        </p:blipFill>
        <p:spPr>
          <a:xfrm>
            <a:off x="594360" y="4197096"/>
            <a:ext cx="475488" cy="475488"/>
          </a:xfrm>
          <a:prstGeom prst="rect">
            <a:avLst/>
          </a:prstGeom>
        </p:spPr>
      </p:pic>
      <p:sp>
        <p:nvSpPr>
          <p:cNvPr id="11" name="Text 6"/>
          <p:cNvSpPr txBox="1"/>
          <p:nvPr/>
        </p:nvSpPr>
        <p:spPr>
          <a:xfrm>
            <a:off x="1252728" y="4160520"/>
            <a:ext cx="512064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Security codes</a:t>
            </a:r>
            <a:endParaRPr lang="en-US" sz="1700" dirty="0"/>
          </a:p>
        </p:txBody>
      </p:sp>
      <p:sp>
        <p:nvSpPr>
          <p:cNvPr id="12" name="Text 7"/>
          <p:cNvSpPr txBox="1"/>
          <p:nvPr/>
        </p:nvSpPr>
        <p:spPr>
          <a:xfrm>
            <a:off x="1252728" y="4489704"/>
            <a:ext cx="5120640" cy="640080"/>
          </a:xfrm>
          <a:prstGeom prst="rect">
            <a:avLst/>
          </a:prstGeom>
          <a:noFill/>
          <a:ln/>
        </p:spPr>
        <p:txBody>
          <a:bodyPr wrap="square" lIns="0" tIns="0" rIns="0" bIns="0" rtlCol="0" anchor="t"/>
          <a:lstStyle/>
          <a:p>
            <a:pPr indent="0" marL="0">
              <a:buNone/>
            </a:pPr>
            <a:r>
              <a:rPr lang="en-US" sz="1350" dirty="0">
                <a:solidFill>
                  <a:srgbClr val="B8D8DE"/>
                </a:solidFill>
                <a:latin typeface="Calibri" pitchFamily="34" charset="0"/>
                <a:ea typeface="Calibri" pitchFamily="34" charset="-122"/>
                <a:cs typeface="Calibri" pitchFamily="34" charset="-120"/>
              </a:rPr>
              <a:t>Compare a code on both phones to be sure nobody is in the middle.</a:t>
            </a:r>
            <a:endParaRPr lang="en-US" sz="1350" dirty="0"/>
          </a:p>
        </p:txBody>
      </p:sp>
      <p:pic>
        <p:nvPicPr>
          <p:cNvPr id="13" name="Image 3" descr="wallet icon">    </p:cNvPr>
          <p:cNvPicPr>
            <a:picLocks noChangeAspect="1"/>
          </p:cNvPicPr>
          <p:nvPr/>
        </p:nvPicPr>
        <p:blipFill>
          <a:blip r:embed="rId4"/>
          <a:stretch>
            <a:fillRect/>
          </a:stretch>
        </p:blipFill>
        <p:spPr>
          <a:xfrm>
            <a:off x="594360" y="5221224"/>
            <a:ext cx="475488" cy="475488"/>
          </a:xfrm>
          <a:prstGeom prst="rect">
            <a:avLst/>
          </a:prstGeom>
        </p:spPr>
      </p:pic>
      <p:sp>
        <p:nvSpPr>
          <p:cNvPr id="14" name="Text 8"/>
          <p:cNvSpPr txBox="1"/>
          <p:nvPr/>
        </p:nvSpPr>
        <p:spPr>
          <a:xfrm>
            <a:off x="1252728" y="5184648"/>
            <a:ext cx="512064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 ads, no data selling</a:t>
            </a:r>
            <a:endParaRPr lang="en-US" sz="1700" dirty="0"/>
          </a:p>
        </p:txBody>
      </p:sp>
      <p:sp>
        <p:nvSpPr>
          <p:cNvPr id="15" name="Text 9"/>
          <p:cNvSpPr txBox="1"/>
          <p:nvPr/>
        </p:nvSpPr>
        <p:spPr>
          <a:xfrm>
            <a:off x="1252728" y="5513832"/>
            <a:ext cx="5120640" cy="640080"/>
          </a:xfrm>
          <a:prstGeom prst="rect">
            <a:avLst/>
          </a:prstGeom>
          <a:noFill/>
          <a:ln/>
        </p:spPr>
        <p:txBody>
          <a:bodyPr wrap="square" lIns="0" tIns="0" rIns="0" bIns="0" rtlCol="0" anchor="t"/>
          <a:lstStyle/>
          <a:p>
            <a:pPr indent="0" marL="0">
              <a:buNone/>
            </a:pPr>
            <a:r>
              <a:rPr lang="en-US" sz="1350" dirty="0">
                <a:solidFill>
                  <a:srgbClr val="B8D8DE"/>
                </a:solidFill>
                <a:latin typeface="Calibri" pitchFamily="34" charset="0"/>
                <a:ea typeface="Calibri" pitchFamily="34" charset="-122"/>
                <a:cs typeface="Calibri" pitchFamily="34" charset="-120"/>
              </a:rPr>
              <a:t>Kinnect runs without paid servers, so there is nothing to sell.</a:t>
            </a:r>
            <a:endParaRPr lang="en-US" sz="1350" dirty="0"/>
          </a:p>
        </p:txBody>
      </p:sp>
      <p:sp>
        <p:nvSpPr>
          <p:cNvPr id="16" name="Shape 10"/>
          <p:cNvSpPr/>
          <p:nvPr/>
        </p:nvSpPr>
        <p:spPr>
          <a:xfrm>
            <a:off x="7434072" y="713232"/>
            <a:ext cx="2620948" cy="5522976"/>
          </a:xfrm>
          <a:prstGeom prst="roundRect">
            <a:avLst>
              <a:gd name="adj" fmla="val 7675"/>
            </a:avLst>
          </a:prstGeom>
          <a:solidFill>
            <a:srgbClr val="3B5563"/>
          </a:solidFill>
          <a:ln w="12700">
            <a:solidFill>
              <a:srgbClr val="3B5563"/>
            </a:solidFill>
            <a:prstDash val="solid"/>
          </a:ln>
          <a:effectLst>
            <a:outerShdw sx="100000" sy="100000" kx="0" ky="0" algn="bl" rotWithShape="0" blurRad="152400" dist="50800" dir="5400000">
              <a:srgbClr val="000000">
                <a:alpha val="28000"/>
              </a:srgbClr>
            </a:outerShdw>
          </a:effectLst>
        </p:spPr>
      </p:sp>
      <p:pic>
        <p:nvPicPr>
          <p:cNvPr id="17" name="Image 4" descr="Kinnect app screen: privacy">    </p:cNvPr>
          <p:cNvPicPr>
            <a:picLocks noChangeAspect="1"/>
          </p:cNvPicPr>
          <p:nvPr/>
        </p:nvPicPr>
        <p:blipFill>
          <a:blip r:embed="rId5"/>
          <a:stretch>
            <a:fillRect/>
          </a:stretch>
        </p:blipFill>
        <p:spPr>
          <a:xfrm>
            <a:off x="7498080" y="777240"/>
            <a:ext cx="2492932" cy="5394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What you only get with Kinnect</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Built into the app, for families — not add-ons.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6675120"/>
                <a:gridCol w="2011680"/>
                <a:gridCol w="237744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E7490"/>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Kinnect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E7490"/>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Typical chat apps</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0E7490"/>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Chats, groups, photos, voice, video calls</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End-to-end encryption</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Most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Stories, drawing and games together on a call</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Daily I'm OK check-in and medicine reminders for family</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SOS that alerts family with location and calls them</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Local time + late-night warning before calling</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Simple mode for grandparents</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4F8FA"/>
                    </a:solidFill>
                  </a:tcPr>
                </a:tc>
              </a:tr>
              <a:tr h="475488">
                <a:tc>
                  <a:txBody>
                    <a:bodyPr/>
                    <a:lstStyle/>
                    <a:p>
                      <a:pPr algn="l" indent="0" marL="0">
                        <a:buNone/>
                      </a:pPr>
                      <a:r>
                        <a:rPr lang="en-US" sz="1500" dirty="0">
                          <a:solidFill>
                            <a:srgbClr val="1E293B"/>
                          </a:solidFill>
                          <a:latin typeface="Calibri" pitchFamily="34" charset="0"/>
                          <a:ea typeface="Calibri" pitchFamily="34" charset="-122"/>
                          <a:cs typeface="Calibri" pitchFamily="34" charset="-120"/>
                        </a:rPr>
                        <a:t>Recorded bedtime stories and a family tree in Indian languages</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6A34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9525" cap="flat" cmpd="sng" algn="ctr">
                      <a:solidFill>
                        <a:srgbClr val="D9E2EA"/>
                      </a:solidFill>
                      <a:prstDash val="solid"/>
                      <a:round/>
                      <a:headEnd type="none" w="med" len="med"/>
                      <a:tailEnd type="none" w="med" len="med"/>
                    </a:lnL>
                    <a:lnR w="9525" cap="flat" cmpd="sng" algn="ctr">
                      <a:solidFill>
                        <a:srgbClr val="D9E2EA"/>
                      </a:solidFill>
                      <a:prstDash val="solid"/>
                      <a:round/>
                      <a:headEnd type="none" w="med" len="med"/>
                      <a:tailEnd type="none" w="med" len="med"/>
                    </a:lnR>
                    <a:lnT w="9525" cap="flat" cmpd="sng" algn="ctr">
                      <a:solidFill>
                        <a:srgbClr val="D9E2EA"/>
                      </a:solidFill>
                      <a:prstDash val="solid"/>
                      <a:round/>
                      <a:headEnd type="none" w="med" len="med"/>
                      <a:tailEnd type="none" w="med" len="med"/>
                    </a:lnT>
                    <a:lnB w="9525" cap="flat" cmpd="sng" algn="ctr">
                      <a:solidFill>
                        <a:srgbClr val="D9E2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Built to run for free</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No paid services — so it can stay free for families.</a:t>
            </a:r>
            <a:endParaRPr lang="en-US" sz="1600" dirty="0"/>
          </a:p>
        </p:txBody>
      </p:sp>
      <p:sp>
        <p:nvSpPr>
          <p:cNvPr id="4" name="Text 2"/>
          <p:cNvSpPr txBox="1"/>
          <p:nvPr/>
        </p:nvSpPr>
        <p:spPr>
          <a:xfrm>
            <a:off x="548640" y="1965960"/>
            <a:ext cx="3474720" cy="1005840"/>
          </a:xfrm>
          <a:prstGeom prst="rect">
            <a:avLst/>
          </a:prstGeom>
          <a:noFill/>
          <a:ln/>
        </p:spPr>
        <p:txBody>
          <a:bodyPr wrap="square" lIns="0" tIns="0" rIns="0" bIns="0" rtlCol="0" anchor="ctr"/>
          <a:lstStyle/>
          <a:p>
            <a:pPr indent="0" marL="0">
              <a:buNone/>
            </a:pPr>
            <a:r>
              <a:rPr lang="en-US" sz="5800" b="1" dirty="0">
                <a:solidFill>
                  <a:srgbClr val="0E7490"/>
                </a:solidFill>
                <a:latin typeface="Cambria" pitchFamily="34" charset="0"/>
                <a:ea typeface="Cambria" pitchFamily="34" charset="-122"/>
                <a:cs typeface="Cambria" pitchFamily="34" charset="-120"/>
              </a:rPr>
              <a:t>₹0</a:t>
            </a:r>
            <a:endParaRPr lang="en-US" sz="5800" dirty="0"/>
          </a:p>
        </p:txBody>
      </p:sp>
      <p:sp>
        <p:nvSpPr>
          <p:cNvPr id="5" name="Text 3"/>
          <p:cNvSpPr txBox="1"/>
          <p:nvPr/>
        </p:nvSpPr>
        <p:spPr>
          <a:xfrm>
            <a:off x="548640" y="2971800"/>
            <a:ext cx="3474720" cy="457200"/>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monthly running cost today</a:t>
            </a:r>
            <a:endParaRPr lang="en-US" sz="1500" dirty="0"/>
          </a:p>
        </p:txBody>
      </p:sp>
      <p:sp>
        <p:nvSpPr>
          <p:cNvPr id="6" name="Text 4"/>
          <p:cNvSpPr txBox="1"/>
          <p:nvPr/>
        </p:nvSpPr>
        <p:spPr>
          <a:xfrm>
            <a:off x="4343400" y="1965960"/>
            <a:ext cx="3474720" cy="1005840"/>
          </a:xfrm>
          <a:prstGeom prst="rect">
            <a:avLst/>
          </a:prstGeom>
          <a:noFill/>
          <a:ln/>
        </p:spPr>
        <p:txBody>
          <a:bodyPr wrap="square" lIns="0" tIns="0" rIns="0" bIns="0" rtlCol="0" anchor="ctr"/>
          <a:lstStyle/>
          <a:p>
            <a:pPr indent="0" marL="0">
              <a:buNone/>
            </a:pPr>
            <a:r>
              <a:rPr lang="en-US" sz="5800" b="1" dirty="0">
                <a:solidFill>
                  <a:srgbClr val="0E7490"/>
                </a:solidFill>
                <a:latin typeface="Cambria" pitchFamily="34" charset="0"/>
                <a:ea typeface="Cambria" pitchFamily="34" charset="-122"/>
                <a:cs typeface="Cambria" pitchFamily="34" charset="-120"/>
              </a:rPr>
              <a:t>4</a:t>
            </a:r>
            <a:endParaRPr lang="en-US" sz="5800" dirty="0"/>
          </a:p>
        </p:txBody>
      </p:sp>
      <p:sp>
        <p:nvSpPr>
          <p:cNvPr id="7" name="Text 5"/>
          <p:cNvSpPr txBox="1"/>
          <p:nvPr/>
        </p:nvSpPr>
        <p:spPr>
          <a:xfrm>
            <a:off x="4343400" y="2971800"/>
            <a:ext cx="3474720" cy="457200"/>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people per group video call</a:t>
            </a:r>
            <a:endParaRPr lang="en-US" sz="1500" dirty="0"/>
          </a:p>
        </p:txBody>
      </p:sp>
      <p:sp>
        <p:nvSpPr>
          <p:cNvPr id="8" name="Text 6"/>
          <p:cNvSpPr txBox="1"/>
          <p:nvPr/>
        </p:nvSpPr>
        <p:spPr>
          <a:xfrm>
            <a:off x="8138160" y="1965960"/>
            <a:ext cx="3474720" cy="1005840"/>
          </a:xfrm>
          <a:prstGeom prst="rect">
            <a:avLst/>
          </a:prstGeom>
          <a:noFill/>
          <a:ln/>
        </p:spPr>
        <p:txBody>
          <a:bodyPr wrap="square" lIns="0" tIns="0" rIns="0" bIns="0" rtlCol="0" anchor="ctr"/>
          <a:lstStyle/>
          <a:p>
            <a:pPr indent="0" marL="0">
              <a:buNone/>
            </a:pPr>
            <a:r>
              <a:rPr lang="en-US" sz="5800" b="1" dirty="0">
                <a:solidFill>
                  <a:srgbClr val="0E7490"/>
                </a:solidFill>
                <a:latin typeface="Cambria" pitchFamily="34" charset="0"/>
                <a:ea typeface="Cambria" pitchFamily="34" charset="-122"/>
                <a:cs typeface="Cambria" pitchFamily="34" charset="-120"/>
              </a:rPr>
              <a:t>110+</a:t>
            </a:r>
            <a:endParaRPr lang="en-US" sz="5800" dirty="0"/>
          </a:p>
        </p:txBody>
      </p:sp>
      <p:sp>
        <p:nvSpPr>
          <p:cNvPr id="9" name="Text 7"/>
          <p:cNvSpPr txBox="1"/>
          <p:nvPr/>
        </p:nvSpPr>
        <p:spPr>
          <a:xfrm>
            <a:off x="8138160" y="2971800"/>
            <a:ext cx="3474720" cy="457200"/>
          </a:xfrm>
          <a:prstGeom prst="rect">
            <a:avLst/>
          </a:prstGeom>
          <a:noFill/>
          <a:ln/>
        </p:spPr>
        <p:txBody>
          <a:bodyPr wrap="square" lIns="0" tIns="0" rIns="0" bIns="0" rtlCol="0" anchor="ctr"/>
          <a:lstStyle/>
          <a:p>
            <a:pPr indent="0" marL="0">
              <a:buNone/>
            </a:pPr>
            <a:r>
              <a:rPr lang="en-US" sz="1500" dirty="0">
                <a:solidFill>
                  <a:srgbClr val="5B6B7F"/>
                </a:solidFill>
                <a:latin typeface="Calibri" pitchFamily="34" charset="0"/>
                <a:ea typeface="Calibri" pitchFamily="34" charset="-122"/>
                <a:cs typeface="Calibri" pitchFamily="34" charset="-120"/>
              </a:rPr>
              <a:t>automated checks across 2–4 test phones</a:t>
            </a:r>
            <a:endParaRPr lang="en-US" sz="1500" dirty="0"/>
          </a:p>
        </p:txBody>
      </p:sp>
      <p:pic>
        <p:nvPicPr>
          <p:cNvPr id="10" name="Image 0" descr="cpu icon">    </p:cNvPr>
          <p:cNvPicPr>
            <a:picLocks noChangeAspect="1"/>
          </p:cNvPicPr>
          <p:nvPr/>
        </p:nvPicPr>
        <p:blipFill>
          <a:blip r:embed="rId1"/>
          <a:stretch>
            <a:fillRect/>
          </a:stretch>
        </p:blipFill>
        <p:spPr>
          <a:xfrm>
            <a:off x="548640" y="3977640"/>
            <a:ext cx="475488" cy="475488"/>
          </a:xfrm>
          <a:prstGeom prst="rect">
            <a:avLst/>
          </a:prstGeom>
        </p:spPr>
      </p:pic>
      <p:sp>
        <p:nvSpPr>
          <p:cNvPr id="11" name="Text 8"/>
          <p:cNvSpPr txBox="1"/>
          <p:nvPr/>
        </p:nvSpPr>
        <p:spPr>
          <a:xfrm>
            <a:off x="1207008" y="3941064"/>
            <a:ext cx="47365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On the phone</a:t>
            </a:r>
            <a:endParaRPr lang="en-US" sz="1700" dirty="0"/>
          </a:p>
        </p:txBody>
      </p:sp>
      <p:sp>
        <p:nvSpPr>
          <p:cNvPr id="12" name="Text 9"/>
          <p:cNvSpPr txBox="1"/>
          <p:nvPr/>
        </p:nvSpPr>
        <p:spPr>
          <a:xfrm>
            <a:off x="1207008" y="4270248"/>
            <a:ext cx="47365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Encryption, translation (Google ML Kit), reminders, backup — all on the device.</a:t>
            </a:r>
            <a:endParaRPr lang="en-US" sz="1350" dirty="0"/>
          </a:p>
        </p:txBody>
      </p:sp>
      <p:pic>
        <p:nvPicPr>
          <p:cNvPr id="13" name="Image 1" descr="video icon">    </p:cNvPr>
          <p:cNvPicPr>
            <a:picLocks noChangeAspect="1"/>
          </p:cNvPicPr>
          <p:nvPr/>
        </p:nvPicPr>
        <p:blipFill>
          <a:blip r:embed="rId2"/>
          <a:stretch>
            <a:fillRect/>
          </a:stretch>
        </p:blipFill>
        <p:spPr>
          <a:xfrm>
            <a:off x="548640" y="5029200"/>
            <a:ext cx="475488" cy="475488"/>
          </a:xfrm>
          <a:prstGeom prst="rect">
            <a:avLst/>
          </a:prstGeom>
        </p:spPr>
      </p:pic>
      <p:sp>
        <p:nvSpPr>
          <p:cNvPr id="14" name="Text 10"/>
          <p:cNvSpPr txBox="1"/>
          <p:nvPr/>
        </p:nvSpPr>
        <p:spPr>
          <a:xfrm>
            <a:off x="1207008" y="4992624"/>
            <a:ext cx="47365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Direct calls</a:t>
            </a:r>
            <a:endParaRPr lang="en-US" sz="1700" dirty="0"/>
          </a:p>
        </p:txBody>
      </p:sp>
      <p:sp>
        <p:nvSpPr>
          <p:cNvPr id="15" name="Text 11"/>
          <p:cNvSpPr txBox="1"/>
          <p:nvPr/>
        </p:nvSpPr>
        <p:spPr>
          <a:xfrm>
            <a:off x="1207008" y="5321808"/>
            <a:ext cx="47365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Video goes phone-to-phone (WebRTC); a free public relay passes encrypted messages.</a:t>
            </a:r>
            <a:endParaRPr lang="en-US" sz="1350" dirty="0"/>
          </a:p>
        </p:txBody>
      </p:sp>
      <p:pic>
        <p:nvPicPr>
          <p:cNvPr id="16" name="Image 2" descr="globe icon">    </p:cNvPr>
          <p:cNvPicPr>
            <a:picLocks noChangeAspect="1"/>
          </p:cNvPicPr>
          <p:nvPr/>
        </p:nvPicPr>
        <p:blipFill>
          <a:blip r:embed="rId3"/>
          <a:stretch>
            <a:fillRect/>
          </a:stretch>
        </p:blipFill>
        <p:spPr>
          <a:xfrm>
            <a:off x="6309360" y="3977640"/>
            <a:ext cx="475488" cy="475488"/>
          </a:xfrm>
          <a:prstGeom prst="rect">
            <a:avLst/>
          </a:prstGeom>
        </p:spPr>
      </p:pic>
      <p:sp>
        <p:nvSpPr>
          <p:cNvPr id="17" name="Text 12"/>
          <p:cNvSpPr txBox="1"/>
          <p:nvPr/>
        </p:nvSpPr>
        <p:spPr>
          <a:xfrm>
            <a:off x="6967728" y="3941064"/>
            <a:ext cx="47365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Android + web</a:t>
            </a:r>
            <a:endParaRPr lang="en-US" sz="1700" dirty="0"/>
          </a:p>
        </p:txBody>
      </p:sp>
      <p:sp>
        <p:nvSpPr>
          <p:cNvPr id="18" name="Text 13"/>
          <p:cNvSpPr txBox="1"/>
          <p:nvPr/>
        </p:nvSpPr>
        <p:spPr>
          <a:xfrm>
            <a:off x="6967728" y="4270248"/>
            <a:ext cx="47365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One code base: Android app and a browser version for any computer.</a:t>
            </a:r>
            <a:endParaRPr lang="en-US" sz="1350" dirty="0"/>
          </a:p>
        </p:txBody>
      </p:sp>
      <p:pic>
        <p:nvPicPr>
          <p:cNvPr id="19" name="Image 3" descr="flask icon">    </p:cNvPr>
          <p:cNvPicPr>
            <a:picLocks noChangeAspect="1"/>
          </p:cNvPicPr>
          <p:nvPr/>
        </p:nvPicPr>
        <p:blipFill>
          <a:blip r:embed="rId4"/>
          <a:stretch>
            <a:fillRect/>
          </a:stretch>
        </p:blipFill>
        <p:spPr>
          <a:xfrm>
            <a:off x="6309360" y="5029200"/>
            <a:ext cx="475488" cy="475488"/>
          </a:xfrm>
          <a:prstGeom prst="rect">
            <a:avLst/>
          </a:prstGeom>
        </p:spPr>
      </p:pic>
      <p:sp>
        <p:nvSpPr>
          <p:cNvPr id="20" name="Text 14"/>
          <p:cNvSpPr txBox="1"/>
          <p:nvPr/>
        </p:nvSpPr>
        <p:spPr>
          <a:xfrm>
            <a:off x="6967728" y="4992624"/>
            <a:ext cx="4736592" cy="329184"/>
          </a:xfrm>
          <a:prstGeom prst="rect">
            <a:avLst/>
          </a:prstGeom>
          <a:noFill/>
          <a:ln/>
        </p:spPr>
        <p:txBody>
          <a:bodyPr wrap="square" lIns="0" tIns="0" rIns="0" bIns="0" rtlCol="0" anchor="ctr"/>
          <a:lstStyle/>
          <a:p>
            <a:pPr indent="0" marL="0">
              <a:buNone/>
            </a:pPr>
            <a:r>
              <a:rPr lang="en-US" sz="1700" b="1" dirty="0">
                <a:solidFill>
                  <a:srgbClr val="1E293B"/>
                </a:solidFill>
                <a:latin typeface="Calibri" pitchFamily="34" charset="0"/>
                <a:ea typeface="Calibri" pitchFamily="34" charset="-122"/>
                <a:cs typeface="Calibri" pitchFamily="34" charset="-120"/>
              </a:rPr>
              <a:t>Tested end to end</a:t>
            </a:r>
            <a:endParaRPr lang="en-US" sz="1700" dirty="0"/>
          </a:p>
        </p:txBody>
      </p:sp>
      <p:sp>
        <p:nvSpPr>
          <p:cNvPr id="21" name="Text 15"/>
          <p:cNvSpPr txBox="1"/>
          <p:nvPr/>
        </p:nvSpPr>
        <p:spPr>
          <a:xfrm>
            <a:off x="6967728" y="5321808"/>
            <a:ext cx="4736592" cy="502920"/>
          </a:xfrm>
          <a:prstGeom prst="rect">
            <a:avLst/>
          </a:prstGeom>
          <a:noFill/>
          <a:ln/>
        </p:spPr>
        <p:txBody>
          <a:bodyPr wrap="square" lIns="0" tIns="0" rIns="0" bIns="0" rtlCol="0" anchor="t"/>
          <a:lstStyle/>
          <a:p>
            <a:pPr indent="0" marL="0">
              <a:buNone/>
            </a:pPr>
            <a:r>
              <a:rPr lang="en-US" sz="1350" dirty="0">
                <a:solidFill>
                  <a:srgbClr val="5B6B7F"/>
                </a:solidFill>
                <a:latin typeface="Calibri" pitchFamily="34" charset="0"/>
                <a:ea typeface="Calibri" pitchFamily="34" charset="-122"/>
                <a:cs typeface="Calibri" pitchFamily="34" charset="-120"/>
              </a:rPr>
              <a:t>Every feature exercised between simulated phones before release.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B"/>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t"/>
          <a:lstStyle/>
          <a:p>
            <a:pPr indent="0" marL="0">
              <a:buNone/>
            </a:pPr>
            <a:r>
              <a:rPr lang="en-US" sz="3400" b="1" dirty="0">
                <a:solidFill>
                  <a:srgbClr val="1E293B"/>
                </a:solidFill>
                <a:latin typeface="Cambria" pitchFamily="34" charset="0"/>
                <a:ea typeface="Cambria" pitchFamily="34" charset="-122"/>
                <a:cs typeface="Cambria" pitchFamily="34" charset="-120"/>
              </a:rPr>
              <a:t>What's next</a:t>
            </a:r>
            <a:endParaRPr lang="en-US" sz="3400" dirty="0"/>
          </a:p>
        </p:txBody>
      </p:sp>
      <p:sp>
        <p:nvSpPr>
          <p:cNvPr id="3" name="Text 1"/>
          <p:cNvSpPr txBox="1"/>
          <p:nvPr/>
        </p:nvSpPr>
        <p:spPr>
          <a:xfrm>
            <a:off x="548640" y="1207008"/>
            <a:ext cx="10972800" cy="54864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Guided by feedback from our first testers.</a:t>
            </a:r>
            <a:endParaRPr lang="en-US" sz="1600" dirty="0"/>
          </a:p>
        </p:txBody>
      </p:sp>
      <p:sp>
        <p:nvSpPr>
          <p:cNvPr id="4" name="Shape 2"/>
          <p:cNvSpPr/>
          <p:nvPr/>
        </p:nvSpPr>
        <p:spPr>
          <a:xfrm>
            <a:off x="548640" y="2377440"/>
            <a:ext cx="731520" cy="731520"/>
          </a:xfrm>
          <a:prstGeom prst="ellipse">
            <a:avLst/>
          </a:prstGeom>
          <a:solidFill>
            <a:srgbClr val="F59E0B"/>
          </a:solidFill>
          <a:ln w="12700">
            <a:solidFill>
              <a:srgbClr val="F59E0B"/>
            </a:solidFill>
            <a:prstDash val="solid"/>
          </a:ln>
        </p:spPr>
      </p:sp>
      <p:sp>
        <p:nvSpPr>
          <p:cNvPr id="5" name="Text 3"/>
          <p:cNvSpPr txBox="1"/>
          <p:nvPr/>
        </p:nvSpPr>
        <p:spPr>
          <a:xfrm>
            <a:off x="548640" y="237744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Shape 4"/>
          <p:cNvSpPr/>
          <p:nvPr/>
        </p:nvSpPr>
        <p:spPr>
          <a:xfrm>
            <a:off x="1417320" y="2743200"/>
            <a:ext cx="1828800" cy="0"/>
          </a:xfrm>
          <a:prstGeom prst="line">
            <a:avLst/>
          </a:prstGeom>
          <a:noFill/>
          <a:ln w="25400">
            <a:solidFill>
              <a:srgbClr val="E9C27A"/>
            </a:solidFill>
            <a:prstDash val="dash"/>
          </a:ln>
        </p:spPr>
      </p:sp>
      <p:sp>
        <p:nvSpPr>
          <p:cNvPr id="7" name="Text 5"/>
          <p:cNvSpPr txBox="1"/>
          <p:nvPr/>
        </p:nvSpPr>
        <p:spPr>
          <a:xfrm>
            <a:off x="548640" y="3337560"/>
            <a:ext cx="2560320" cy="45720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Tester feedback</a:t>
            </a:r>
            <a:endParaRPr lang="en-US" sz="1800" dirty="0"/>
          </a:p>
        </p:txBody>
      </p:sp>
      <p:sp>
        <p:nvSpPr>
          <p:cNvPr id="8" name="Text 6"/>
          <p:cNvSpPr txBox="1"/>
          <p:nvPr/>
        </p:nvSpPr>
        <p:spPr>
          <a:xfrm>
            <a:off x="548640" y="3840480"/>
            <a:ext cx="2560320" cy="109728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Share the beta, collect feedback in the app, fix what matters most.</a:t>
            </a:r>
            <a:endParaRPr lang="en-US" sz="1400" dirty="0"/>
          </a:p>
        </p:txBody>
      </p:sp>
      <p:sp>
        <p:nvSpPr>
          <p:cNvPr id="9" name="Shape 7"/>
          <p:cNvSpPr/>
          <p:nvPr/>
        </p:nvSpPr>
        <p:spPr>
          <a:xfrm>
            <a:off x="3383280" y="2377440"/>
            <a:ext cx="731520" cy="731520"/>
          </a:xfrm>
          <a:prstGeom prst="ellipse">
            <a:avLst/>
          </a:prstGeom>
          <a:solidFill>
            <a:srgbClr val="F59E0B"/>
          </a:solidFill>
          <a:ln w="12700">
            <a:solidFill>
              <a:srgbClr val="F59E0B"/>
            </a:solidFill>
            <a:prstDash val="solid"/>
          </a:ln>
        </p:spPr>
      </p:sp>
      <p:sp>
        <p:nvSpPr>
          <p:cNvPr id="10" name="Text 8"/>
          <p:cNvSpPr txBox="1"/>
          <p:nvPr/>
        </p:nvSpPr>
        <p:spPr>
          <a:xfrm>
            <a:off x="3383280" y="237744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1" name="Shape 9"/>
          <p:cNvSpPr/>
          <p:nvPr/>
        </p:nvSpPr>
        <p:spPr>
          <a:xfrm>
            <a:off x="4251960" y="2743200"/>
            <a:ext cx="1828800" cy="0"/>
          </a:xfrm>
          <a:prstGeom prst="line">
            <a:avLst/>
          </a:prstGeom>
          <a:noFill/>
          <a:ln w="25400">
            <a:solidFill>
              <a:srgbClr val="E9C27A"/>
            </a:solidFill>
            <a:prstDash val="dash"/>
          </a:ln>
        </p:spPr>
      </p:sp>
      <p:sp>
        <p:nvSpPr>
          <p:cNvPr id="12" name="Text 10"/>
          <p:cNvSpPr txBox="1"/>
          <p:nvPr/>
        </p:nvSpPr>
        <p:spPr>
          <a:xfrm>
            <a:off x="3383280" y="3337560"/>
            <a:ext cx="2560320" cy="45720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Notifications when closed</a:t>
            </a:r>
            <a:endParaRPr lang="en-US" sz="1800" dirty="0"/>
          </a:p>
        </p:txBody>
      </p:sp>
      <p:sp>
        <p:nvSpPr>
          <p:cNvPr id="13" name="Text 11"/>
          <p:cNvSpPr txBox="1"/>
          <p:nvPr/>
        </p:nvSpPr>
        <p:spPr>
          <a:xfrm>
            <a:off x="3383280" y="3840480"/>
            <a:ext cx="2560320" cy="109728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Free push notifications (Firebase) so messages arrive even when the app is shut.</a:t>
            </a:r>
            <a:endParaRPr lang="en-US" sz="1400" dirty="0"/>
          </a:p>
        </p:txBody>
      </p:sp>
      <p:sp>
        <p:nvSpPr>
          <p:cNvPr id="14" name="Shape 12"/>
          <p:cNvSpPr/>
          <p:nvPr/>
        </p:nvSpPr>
        <p:spPr>
          <a:xfrm>
            <a:off x="6217920" y="2377440"/>
            <a:ext cx="731520" cy="731520"/>
          </a:xfrm>
          <a:prstGeom prst="ellipse">
            <a:avLst/>
          </a:prstGeom>
          <a:solidFill>
            <a:srgbClr val="F59E0B"/>
          </a:solidFill>
          <a:ln w="12700">
            <a:solidFill>
              <a:srgbClr val="F59E0B"/>
            </a:solidFill>
            <a:prstDash val="solid"/>
          </a:ln>
        </p:spPr>
      </p:sp>
      <p:sp>
        <p:nvSpPr>
          <p:cNvPr id="15" name="Text 13"/>
          <p:cNvSpPr txBox="1"/>
          <p:nvPr/>
        </p:nvSpPr>
        <p:spPr>
          <a:xfrm>
            <a:off x="6217920" y="237744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6" name="Shape 14"/>
          <p:cNvSpPr/>
          <p:nvPr/>
        </p:nvSpPr>
        <p:spPr>
          <a:xfrm>
            <a:off x="7086600" y="2743200"/>
            <a:ext cx="1828800" cy="0"/>
          </a:xfrm>
          <a:prstGeom prst="line">
            <a:avLst/>
          </a:prstGeom>
          <a:noFill/>
          <a:ln w="25400">
            <a:solidFill>
              <a:srgbClr val="E9C27A"/>
            </a:solidFill>
            <a:prstDash val="dash"/>
          </a:ln>
        </p:spPr>
      </p:sp>
      <p:sp>
        <p:nvSpPr>
          <p:cNvPr id="17" name="Text 15"/>
          <p:cNvSpPr txBox="1"/>
          <p:nvPr/>
        </p:nvSpPr>
        <p:spPr>
          <a:xfrm>
            <a:off x="6217920" y="3337560"/>
            <a:ext cx="2560320" cy="45720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Kids' profile</a:t>
            </a:r>
            <a:endParaRPr lang="en-US" sz="1800" dirty="0"/>
          </a:p>
        </p:txBody>
      </p:sp>
      <p:sp>
        <p:nvSpPr>
          <p:cNvPr id="18" name="Text 16"/>
          <p:cNvSpPr txBox="1"/>
          <p:nvPr/>
        </p:nvSpPr>
        <p:spPr>
          <a:xfrm>
            <a:off x="6217920" y="3840480"/>
            <a:ext cx="2560320" cy="109728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A child account on a parent's tablet, with parent-approved contacts.</a:t>
            </a:r>
            <a:endParaRPr lang="en-US" sz="1400" dirty="0"/>
          </a:p>
        </p:txBody>
      </p:sp>
      <p:sp>
        <p:nvSpPr>
          <p:cNvPr id="19" name="Shape 17"/>
          <p:cNvSpPr/>
          <p:nvPr/>
        </p:nvSpPr>
        <p:spPr>
          <a:xfrm>
            <a:off x="9052560" y="2377440"/>
            <a:ext cx="731520" cy="731520"/>
          </a:xfrm>
          <a:prstGeom prst="ellipse">
            <a:avLst/>
          </a:prstGeom>
          <a:solidFill>
            <a:srgbClr val="F59E0B"/>
          </a:solidFill>
          <a:ln w="12700">
            <a:solidFill>
              <a:srgbClr val="F59E0B"/>
            </a:solidFill>
            <a:prstDash val="solid"/>
          </a:ln>
        </p:spPr>
      </p:sp>
      <p:sp>
        <p:nvSpPr>
          <p:cNvPr id="20" name="Text 18"/>
          <p:cNvSpPr txBox="1"/>
          <p:nvPr/>
        </p:nvSpPr>
        <p:spPr>
          <a:xfrm>
            <a:off x="9052560" y="237744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1" name="Text 19"/>
          <p:cNvSpPr txBox="1"/>
          <p:nvPr/>
        </p:nvSpPr>
        <p:spPr>
          <a:xfrm>
            <a:off x="9052560" y="3337560"/>
            <a:ext cx="2560320" cy="45720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Live subtitles on calls</a:t>
            </a:r>
            <a:endParaRPr lang="en-US" sz="1800" dirty="0"/>
          </a:p>
        </p:txBody>
      </p:sp>
      <p:sp>
        <p:nvSpPr>
          <p:cNvPr id="22" name="Text 20"/>
          <p:cNvSpPr txBox="1"/>
          <p:nvPr/>
        </p:nvSpPr>
        <p:spPr>
          <a:xfrm>
            <a:off x="9052560" y="3840480"/>
            <a:ext cx="2560320" cy="109728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Translated captions, only if it can run free and on the phone.</a:t>
            </a:r>
            <a:endParaRPr lang="en-US" sz="1400" dirty="0"/>
          </a:p>
        </p:txBody>
      </p:sp>
      <p:sp>
        <p:nvSpPr>
          <p:cNvPr id="23" name="Shape 21"/>
          <p:cNvSpPr/>
          <p:nvPr/>
        </p:nvSpPr>
        <p:spPr>
          <a:xfrm>
            <a:off x="548640" y="5349240"/>
            <a:ext cx="11064240" cy="822960"/>
          </a:xfrm>
          <a:prstGeom prst="roundRect">
            <a:avLst>
              <a:gd name="adj" fmla="val 13333"/>
            </a:avLst>
          </a:prstGeom>
          <a:solidFill>
            <a:srgbClr val="FFFFFF"/>
          </a:solidFill>
          <a:ln w="12700">
            <a:solidFill>
              <a:srgbClr val="F1DFB8"/>
            </a:solidFill>
            <a:prstDash val="solid"/>
          </a:ln>
        </p:spPr>
      </p:sp>
      <p:pic>
        <p:nvPicPr>
          <p:cNvPr id="24" name="Image 0" descr="wallet icon">    </p:cNvPr>
          <p:cNvPicPr>
            <a:picLocks noChangeAspect="1"/>
          </p:cNvPicPr>
          <p:nvPr/>
        </p:nvPicPr>
        <p:blipFill>
          <a:blip r:embed="rId1"/>
          <a:stretch>
            <a:fillRect/>
          </a:stretch>
        </p:blipFill>
        <p:spPr>
          <a:xfrm>
            <a:off x="777240" y="5522976"/>
            <a:ext cx="475488" cy="475488"/>
          </a:xfrm>
          <a:prstGeom prst="rect">
            <a:avLst/>
          </a:prstGeom>
        </p:spPr>
      </p:pic>
      <p:sp>
        <p:nvSpPr>
          <p:cNvPr id="25" name="Text 22"/>
          <p:cNvSpPr txBox="1"/>
          <p:nvPr/>
        </p:nvSpPr>
        <p:spPr>
          <a:xfrm>
            <a:off x="1463040" y="5440680"/>
            <a:ext cx="9966960" cy="6400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Held back on purpose: </a:t>
            </a:r>
            <a:pPr indent="0" marL="0">
              <a:buNone/>
            </a:pPr>
            <a:r>
              <a:rPr lang="en-US" sz="1400" dirty="0">
                <a:solidFill>
                  <a:srgbClr val="5B6B7F"/>
                </a:solidFill>
                <a:latin typeface="Calibri" pitchFamily="34" charset="0"/>
                <a:ea typeface="Calibri" pitchFamily="34" charset="-122"/>
                <a:cs typeface="Calibri" pitchFamily="34" charset="-120"/>
              </a:rPr>
              <a:t>Play Store listing ($25 once) and an iPhone app ($99 a year) wait until the no-paid-services rule is revisited. Until then: Android APK + web.</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30"/>
        </a:solidFill>
      </p:bgPr>
    </p:bg>
    <p:spTree>
      <p:nvGrpSpPr>
        <p:cNvPr id="1" name=""/>
        <p:cNvGrpSpPr/>
        <p:nvPr/>
      </p:nvGrpSpPr>
      <p:grpSpPr>
        <a:xfrm>
          <a:off x="0" y="0"/>
          <a:ext cx="0" cy="0"/>
          <a:chOff x="0" y="0"/>
          <a:chExt cx="0" cy="0"/>
        </a:xfrm>
      </p:grpSpPr>
      <p:sp>
        <p:nvSpPr>
          <p:cNvPr id="2" name="Text 0"/>
          <p:cNvSpPr txBox="1"/>
          <p:nvPr/>
        </p:nvSpPr>
        <p:spPr>
          <a:xfrm>
            <a:off x="640080" y="1828800"/>
            <a:ext cx="6400800" cy="822960"/>
          </a:xfrm>
          <a:prstGeom prst="rect">
            <a:avLst/>
          </a:prstGeom>
          <a:noFill/>
          <a:ln/>
        </p:spPr>
        <p:txBody>
          <a:bodyPr wrap="square" lIns="0" tIns="0" rIns="0" bIns="0" rtlCol="0" anchor="ctr"/>
          <a:lstStyle/>
          <a:p>
            <a:pPr indent="0" marL="0">
              <a:buNone/>
            </a:pPr>
            <a:r>
              <a:rPr lang="en-US" sz="4400" dirty="0">
                <a:solidFill>
                  <a:srgbClr val="CFEFF4"/>
                </a:solidFill>
                <a:latin typeface="Cambria" pitchFamily="34" charset="0"/>
                <a:ea typeface="Cambria" pitchFamily="34" charset="-122"/>
                <a:cs typeface="Cambria" pitchFamily="34" charset="-120"/>
              </a:rPr>
              <a:t>Every generation.</a:t>
            </a:r>
            <a:endParaRPr lang="en-US" sz="4400" dirty="0"/>
          </a:p>
        </p:txBody>
      </p:sp>
      <p:sp>
        <p:nvSpPr>
          <p:cNvPr id="3" name="Text 1"/>
          <p:cNvSpPr txBox="1"/>
          <p:nvPr/>
        </p:nvSpPr>
        <p:spPr>
          <a:xfrm>
            <a:off x="640080" y="2606040"/>
            <a:ext cx="640080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One family.</a:t>
            </a:r>
            <a:endParaRPr lang="en-US" sz="4800" dirty="0"/>
          </a:p>
        </p:txBody>
      </p:sp>
      <p:sp>
        <p:nvSpPr>
          <p:cNvPr id="4" name="Text 2"/>
          <p:cNvSpPr txBox="1"/>
          <p:nvPr/>
        </p:nvSpPr>
        <p:spPr>
          <a:xfrm>
            <a:off x="640080" y="3749040"/>
            <a:ext cx="5852160" cy="914400"/>
          </a:xfrm>
          <a:prstGeom prst="rect">
            <a:avLst/>
          </a:prstGeom>
          <a:noFill/>
          <a:ln/>
        </p:spPr>
        <p:txBody>
          <a:bodyPr wrap="square" lIns="0" tIns="0" rIns="0" bIns="0" rtlCol="0" anchor="t"/>
          <a:lstStyle/>
          <a:p>
            <a:pPr indent="0" marL="0">
              <a:buNone/>
            </a:pPr>
            <a:r>
              <a:rPr lang="en-US" sz="1800" dirty="0">
                <a:solidFill>
                  <a:srgbClr val="C9E4E9"/>
                </a:solidFill>
                <a:latin typeface="Calibri" pitchFamily="34" charset="0"/>
                <a:ea typeface="Calibri" pitchFamily="34" charset="-122"/>
                <a:cs typeface="Calibri" pitchFamily="34" charset="-120"/>
              </a:rPr>
              <a:t>Try the Kinnect beta and tell us what you think — the Feedback button is on every screen.</a:t>
            </a:r>
            <a:endParaRPr lang="en-US" sz="1800" dirty="0"/>
          </a:p>
        </p:txBody>
      </p:sp>
      <p:sp>
        <p:nvSpPr>
          <p:cNvPr id="5" name="Shape 3"/>
          <p:cNvSpPr/>
          <p:nvPr/>
        </p:nvSpPr>
        <p:spPr>
          <a:xfrm>
            <a:off x="7525512" y="621792"/>
            <a:ext cx="2663201" cy="5614416"/>
          </a:xfrm>
          <a:prstGeom prst="roundRect">
            <a:avLst>
              <a:gd name="adj" fmla="val 7554"/>
            </a:avLst>
          </a:prstGeom>
          <a:solidFill>
            <a:srgbClr val="3B5563"/>
          </a:solidFill>
          <a:ln w="12700">
            <a:solidFill>
              <a:srgbClr val="3B5563"/>
            </a:solidFill>
            <a:prstDash val="solid"/>
          </a:ln>
          <a:effectLst>
            <a:outerShdw sx="100000" sy="100000" kx="0" ky="0" algn="bl" rotWithShape="0" blurRad="152400" dist="50800" dir="5400000">
              <a:srgbClr val="000000">
                <a:alpha val="28000"/>
              </a:srgbClr>
            </a:outerShdw>
          </a:effectLst>
        </p:spPr>
      </p:sp>
      <p:pic>
        <p:nvPicPr>
          <p:cNvPr id="6" name="Image 0" descr="Kinnect app screen: video call">    </p:cNvPr>
          <p:cNvPicPr>
            <a:picLocks noChangeAspect="1"/>
          </p:cNvPicPr>
          <p:nvPr/>
        </p:nvPicPr>
        <p:blipFill>
          <a:blip r:embed="rId1"/>
          <a:stretch>
            <a:fillRect/>
          </a:stretch>
        </p:blipFill>
        <p:spPr>
          <a:xfrm>
            <a:off x="7589520" y="685800"/>
            <a:ext cx="2535185"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Kinnect — What makes us different</dc:title>
  <dc:subject>PptxGenJS Presentation</dc:subject>
  <dc:creator>Kinnect team</dc:creator>
  <cp:lastModifiedBy>Kinnect team</cp:lastModifiedBy>
  <cp:revision>1</cp:revision>
  <dcterms:created xsi:type="dcterms:W3CDTF">2026-09-28T05:29:23Z</dcterms:created>
  <dcterms:modified xsi:type="dcterms:W3CDTF">2026-09-28T05:29:23Z</dcterms:modified>
</cp:coreProperties>
</file>